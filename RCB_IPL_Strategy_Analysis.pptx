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10287000" cx="18288000"/>
  <p:notesSz cx="6858000" cy="9144000"/>
  <p:embeddedFontLst>
    <p:embeddedFont>
      <p:font typeface="Lora"/>
      <p:bold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2" roundtripDataSignature="AMtx7mjO8B8WWe/jPMJthma0ZtN2Nk5Q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ora-bold.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Lora-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4" name="Google Shape;104;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5" name="Google Shape;105;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8" name="Google Shape;108;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9" name="Google Shape;119;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20" name="Google Shape;120;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3" name="Google Shape;123;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34" name="Google Shape;134;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35" name="Google Shape;135;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38" name="Google Shape;138;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49" name="Google Shape;149;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50" name="Google Shape;150;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53" name="Google Shape;153;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2" name="Google Shape;162;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3" name="Google Shape;163;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66" name="Google Shape;166;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5" name="Google Shape;175;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76" name="Google Shape;176;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79" name="Google Shape;179;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1" name="Google Shape;191;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92" name="Google Shape;192;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95" name="Google Shape;195;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05" name="Google Shape;205;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06" name="Google Shape;206;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09" name="Google Shape;209;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84540935f_0_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f84540935f_0_0: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f84540935f_0_0:notes"/>
          <p:cNvSpPr txBox="1"/>
          <p:nvPr>
            <p:ph idx="12" type="sldNum"/>
          </p:nvPr>
        </p:nvSpPr>
        <p:spPr>
          <a:xfrm>
            <a:off x="5180013" y="6502400"/>
            <a:ext cx="3962400" cy="341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6" name="Google Shape;226;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7" name="Google Shape;227;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30" name="Google Shape;230;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9" name="Google Shape;239;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40" name="Google Shape;240;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3" name="Google Shape;243;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8" name="Google Shape;258;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59" name="Google Shape;259;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62" name="Google Shape;262;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1" name="Google Shape;271;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72" name="Google Shape;272;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75" name="Google Shape;275;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4"/>
          <p:cNvSpPr/>
          <p:nvPr>
            <p:ph idx="2" type="pic"/>
          </p:nvPr>
        </p:nvSpPr>
        <p:spPr>
          <a:xfrm>
            <a:off x="1792288" y="612775"/>
            <a:ext cx="5486400" cy="4114800"/>
          </a:xfrm>
          <a:prstGeom prst="rect">
            <a:avLst/>
          </a:prstGeom>
          <a:noFill/>
          <a:ln>
            <a:noFill/>
          </a:ln>
        </p:spPr>
      </p:sp>
      <p:sp>
        <p:nvSpPr>
          <p:cNvPr id="68" name="Google Shape;68;p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6.pn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13.png"/><Relationship Id="rId7"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9" Type="http://schemas.openxmlformats.org/officeDocument/2006/relationships/image" Target="../media/image10.jpg"/><Relationship Id="rId5" Type="http://schemas.openxmlformats.org/officeDocument/2006/relationships/image" Target="../media/image5.png"/><Relationship Id="rId6" Type="http://schemas.openxmlformats.org/officeDocument/2006/relationships/image" Target="../media/image11.png"/><Relationship Id="rId7" Type="http://schemas.openxmlformats.org/officeDocument/2006/relationships/image" Target="../media/image19.png"/><Relationship Id="rId8"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033"/>
        </a:solidFill>
      </p:bgPr>
    </p:bg>
    <p:spTree>
      <p:nvGrpSpPr>
        <p:cNvPr id="91" name="Shape 91"/>
        <p:cNvGrpSpPr/>
        <p:nvPr/>
      </p:nvGrpSpPr>
      <p:grpSpPr>
        <a:xfrm>
          <a:off x="0" y="0"/>
          <a:ext cx="0" cy="0"/>
          <a:chOff x="0" y="0"/>
          <a:chExt cx="0" cy="0"/>
        </a:xfrm>
      </p:grpSpPr>
      <p:sp>
        <p:nvSpPr>
          <p:cNvPr id="92" name="Google Shape;92;p1"/>
          <p:cNvSpPr/>
          <p:nvPr/>
        </p:nvSpPr>
        <p:spPr>
          <a:xfrm>
            <a:off x="-7191" y="2676230"/>
            <a:ext cx="18287886" cy="5291842"/>
          </a:xfrm>
          <a:custGeom>
            <a:rect b="b" l="l" r="r" t="t"/>
            <a:pathLst>
              <a:path extrusionOk="0" h="5291842" w="18287886">
                <a:moveTo>
                  <a:pt x="0" y="0"/>
                </a:moveTo>
                <a:lnTo>
                  <a:pt x="18287885" y="0"/>
                </a:lnTo>
                <a:lnTo>
                  <a:pt x="18287885" y="5291842"/>
                </a:lnTo>
                <a:lnTo>
                  <a:pt x="0" y="5291842"/>
                </a:lnTo>
                <a:lnTo>
                  <a:pt x="0" y="0"/>
                </a:lnTo>
                <a:close/>
              </a:path>
            </a:pathLst>
          </a:custGeom>
          <a:blipFill rotWithShape="1">
            <a:blip r:embed="rId3">
              <a:alphaModFix/>
            </a:blip>
            <a:stretch>
              <a:fillRect b="0" l="0" r="0" t="0"/>
            </a:stretch>
          </a:blipFill>
          <a:ln>
            <a:noFill/>
          </a:ln>
        </p:spPr>
      </p:sp>
      <p:sp>
        <p:nvSpPr>
          <p:cNvPr id="93" name="Google Shape;93;p1"/>
          <p:cNvSpPr/>
          <p:nvPr/>
        </p:nvSpPr>
        <p:spPr>
          <a:xfrm>
            <a:off x="7191" y="-33938"/>
            <a:ext cx="18288000" cy="10281476"/>
          </a:xfrm>
          <a:custGeom>
            <a:rect b="b" l="l" r="r" t="t"/>
            <a:pathLst>
              <a:path extrusionOk="0" h="13708635" w="24384000">
                <a:moveTo>
                  <a:pt x="0" y="0"/>
                </a:moveTo>
                <a:lnTo>
                  <a:pt x="24384000" y="0"/>
                </a:lnTo>
                <a:lnTo>
                  <a:pt x="24384000" y="13708635"/>
                </a:lnTo>
                <a:lnTo>
                  <a:pt x="0" y="13708635"/>
                </a:lnTo>
                <a:lnTo>
                  <a:pt x="0" y="0"/>
                </a:lnTo>
                <a:close/>
              </a:path>
            </a:pathLst>
          </a:custGeom>
          <a:blipFill rotWithShape="1">
            <a:blip r:embed="rId4">
              <a:alphaModFix/>
            </a:blip>
            <a:stretch>
              <a:fillRect b="0" l="0" r="-33" t="0"/>
            </a:stretch>
          </a:blipFill>
          <a:ln>
            <a:noFill/>
          </a:ln>
        </p:spPr>
      </p:sp>
      <p:sp>
        <p:nvSpPr>
          <p:cNvPr id="94" name="Google Shape;94;p1"/>
          <p:cNvSpPr/>
          <p:nvPr/>
        </p:nvSpPr>
        <p:spPr>
          <a:xfrm>
            <a:off x="0" y="2743"/>
            <a:ext cx="18288000" cy="10281476"/>
          </a:xfrm>
          <a:custGeom>
            <a:rect b="b" l="l" r="r" t="t"/>
            <a:pathLst>
              <a:path extrusionOk="0" h="13708635" w="24384000">
                <a:moveTo>
                  <a:pt x="0" y="0"/>
                </a:moveTo>
                <a:lnTo>
                  <a:pt x="24384000" y="0"/>
                </a:lnTo>
                <a:lnTo>
                  <a:pt x="24384000" y="13708635"/>
                </a:lnTo>
                <a:lnTo>
                  <a:pt x="0" y="13708635"/>
                </a:lnTo>
                <a:lnTo>
                  <a:pt x="0" y="0"/>
                </a:lnTo>
                <a:close/>
              </a:path>
            </a:pathLst>
          </a:custGeom>
          <a:blipFill rotWithShape="1">
            <a:blip r:embed="rId4">
              <a:alphaModFix/>
            </a:blip>
            <a:stretch>
              <a:fillRect b="0" l="0" r="-33" t="0"/>
            </a:stretch>
          </a:blipFill>
          <a:ln>
            <a:noFill/>
          </a:ln>
        </p:spPr>
      </p:sp>
      <p:sp>
        <p:nvSpPr>
          <p:cNvPr id="95" name="Google Shape;95;p1"/>
          <p:cNvSpPr/>
          <p:nvPr/>
        </p:nvSpPr>
        <p:spPr>
          <a:xfrm>
            <a:off x="0" y="2743"/>
            <a:ext cx="18288000" cy="10281476"/>
          </a:xfrm>
          <a:custGeom>
            <a:rect b="b" l="l" r="r" t="t"/>
            <a:pathLst>
              <a:path extrusionOk="0" h="13708635" w="24384000">
                <a:moveTo>
                  <a:pt x="0" y="0"/>
                </a:moveTo>
                <a:lnTo>
                  <a:pt x="24384000" y="0"/>
                </a:lnTo>
                <a:lnTo>
                  <a:pt x="24384000" y="13708635"/>
                </a:lnTo>
                <a:lnTo>
                  <a:pt x="0" y="13708635"/>
                </a:lnTo>
                <a:lnTo>
                  <a:pt x="0" y="0"/>
                </a:lnTo>
                <a:close/>
              </a:path>
            </a:pathLst>
          </a:custGeom>
          <a:blipFill rotWithShape="1">
            <a:blip r:embed="rId4">
              <a:alphaModFix/>
            </a:blip>
            <a:stretch>
              <a:fillRect b="0" l="0" r="-33" t="0"/>
            </a:stretch>
          </a:blipFill>
          <a:ln>
            <a:noFill/>
          </a:ln>
        </p:spPr>
      </p:sp>
      <p:sp>
        <p:nvSpPr>
          <p:cNvPr id="96" name="Google Shape;96;p1"/>
          <p:cNvSpPr/>
          <p:nvPr/>
        </p:nvSpPr>
        <p:spPr>
          <a:xfrm>
            <a:off x="342900" y="222685"/>
            <a:ext cx="3133663" cy="1566831"/>
          </a:xfrm>
          <a:custGeom>
            <a:rect b="b" l="l" r="r" t="t"/>
            <a:pathLst>
              <a:path extrusionOk="0" h="1152525" w="2305050">
                <a:moveTo>
                  <a:pt x="0" y="0"/>
                </a:moveTo>
                <a:lnTo>
                  <a:pt x="2305050" y="0"/>
                </a:lnTo>
                <a:lnTo>
                  <a:pt x="2305050" y="1152525"/>
                </a:lnTo>
                <a:lnTo>
                  <a:pt x="0" y="1152525"/>
                </a:lnTo>
                <a:lnTo>
                  <a:pt x="0" y="0"/>
                </a:lnTo>
                <a:close/>
              </a:path>
            </a:pathLst>
          </a:custGeom>
          <a:blipFill rotWithShape="1">
            <a:blip r:embed="rId5">
              <a:alphaModFix/>
            </a:blip>
            <a:stretch>
              <a:fillRect b="0" l="0" r="0" t="0"/>
            </a:stretch>
          </a:blipFill>
          <a:ln>
            <a:noFill/>
          </a:ln>
        </p:spPr>
      </p:sp>
      <p:sp>
        <p:nvSpPr>
          <p:cNvPr id="97" name="Google Shape;97;p1"/>
          <p:cNvSpPr txBox="1"/>
          <p:nvPr/>
        </p:nvSpPr>
        <p:spPr>
          <a:xfrm>
            <a:off x="1726873" y="2676230"/>
            <a:ext cx="7865402" cy="3276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400" u="none" cap="none" strike="noStrike">
                <a:solidFill>
                  <a:srgbClr val="FFFAC5"/>
                </a:solidFill>
                <a:latin typeface="Lora"/>
                <a:ea typeface="Lora"/>
                <a:cs typeface="Lora"/>
                <a:sym typeface="Lora"/>
              </a:rPr>
              <a:t>RCB – IPL Strategy &amp; Performance Analysis</a:t>
            </a:r>
            <a:endParaRPr/>
          </a:p>
          <a:p>
            <a:pPr indent="0" lvl="0" marL="0" marR="0" rtl="0" algn="l">
              <a:lnSpc>
                <a:spcPct val="120000"/>
              </a:lnSpc>
              <a:spcBef>
                <a:spcPts val="0"/>
              </a:spcBef>
              <a:spcAft>
                <a:spcPts val="0"/>
              </a:spcAft>
              <a:buNone/>
            </a:pPr>
            <a:r>
              <a:t/>
            </a:r>
            <a:endParaRPr b="1" i="0" sz="5400" u="none" cap="none" strike="noStrike">
              <a:solidFill>
                <a:srgbClr val="FFFAC5"/>
              </a:solidFill>
              <a:latin typeface="Lora"/>
              <a:ea typeface="Lora"/>
              <a:cs typeface="Lora"/>
              <a:sym typeface="Lora"/>
            </a:endParaRPr>
          </a:p>
          <a:p>
            <a:pPr indent="0" lvl="0" marL="0" marR="0" rtl="0" algn="l">
              <a:lnSpc>
                <a:spcPct val="120000"/>
              </a:lnSpc>
              <a:spcBef>
                <a:spcPts val="0"/>
              </a:spcBef>
              <a:spcAft>
                <a:spcPts val="0"/>
              </a:spcAft>
              <a:buNone/>
            </a:pPr>
            <a:r>
              <a:t/>
            </a:r>
            <a:endParaRPr b="1" i="0" sz="5400" u="none" cap="none" strike="noStrike">
              <a:solidFill>
                <a:srgbClr val="FFFAC5"/>
              </a:solidFill>
              <a:latin typeface="Lora"/>
              <a:ea typeface="Lora"/>
              <a:cs typeface="Lora"/>
              <a:sym typeface="Lora"/>
            </a:endParaRPr>
          </a:p>
        </p:txBody>
      </p:sp>
      <p:sp>
        <p:nvSpPr>
          <p:cNvPr id="98" name="Google Shape;98;p1"/>
          <p:cNvSpPr/>
          <p:nvPr/>
        </p:nvSpPr>
        <p:spPr>
          <a:xfrm>
            <a:off x="-7191" y="6810785"/>
            <a:ext cx="18302383" cy="3476215"/>
          </a:xfrm>
          <a:custGeom>
            <a:rect b="b" l="l" r="r" t="t"/>
            <a:pathLst>
              <a:path extrusionOk="0" h="3476215" w="18302383">
                <a:moveTo>
                  <a:pt x="0" y="0"/>
                </a:moveTo>
                <a:lnTo>
                  <a:pt x="18302382" y="0"/>
                </a:lnTo>
                <a:lnTo>
                  <a:pt x="18302382" y="3476215"/>
                </a:lnTo>
                <a:lnTo>
                  <a:pt x="0" y="3476215"/>
                </a:lnTo>
                <a:lnTo>
                  <a:pt x="0" y="0"/>
                </a:lnTo>
                <a:close/>
              </a:path>
            </a:pathLst>
          </a:custGeom>
          <a:blipFill rotWithShape="1">
            <a:blip r:embed="rId6">
              <a:alphaModFix/>
            </a:blip>
            <a:stretch>
              <a:fillRect b="0" l="0" r="0" t="0"/>
            </a:stretch>
          </a:blipFill>
          <a:ln>
            <a:noFill/>
          </a:ln>
        </p:spPr>
      </p:sp>
      <p:sp>
        <p:nvSpPr>
          <p:cNvPr id="99" name="Google Shape;99;p1"/>
          <p:cNvSpPr/>
          <p:nvPr/>
        </p:nvSpPr>
        <p:spPr>
          <a:xfrm>
            <a:off x="10039950" y="1521076"/>
            <a:ext cx="6748558" cy="8726500"/>
          </a:xfrm>
          <a:custGeom>
            <a:rect b="b" l="l" r="r" t="t"/>
            <a:pathLst>
              <a:path extrusionOk="0" h="8726500" w="6748558">
                <a:moveTo>
                  <a:pt x="0" y="0"/>
                </a:moveTo>
                <a:lnTo>
                  <a:pt x="6748558" y="0"/>
                </a:lnTo>
                <a:lnTo>
                  <a:pt x="6748558" y="8726500"/>
                </a:lnTo>
                <a:lnTo>
                  <a:pt x="0" y="8726500"/>
                </a:lnTo>
                <a:lnTo>
                  <a:pt x="0" y="0"/>
                </a:lnTo>
                <a:close/>
              </a:path>
            </a:pathLst>
          </a:custGeom>
          <a:blipFill rotWithShape="1">
            <a:blip r:embed="rId7">
              <a:alphaModFix/>
            </a:blip>
            <a:stretch>
              <a:fillRect b="0" l="0" r="0" t="0"/>
            </a:stretch>
          </a:blipFill>
          <a:ln>
            <a:noFill/>
          </a:ln>
        </p:spPr>
      </p:sp>
      <p:sp>
        <p:nvSpPr>
          <p:cNvPr id="100" name="Google Shape;100;p1"/>
          <p:cNvSpPr txBox="1"/>
          <p:nvPr/>
        </p:nvSpPr>
        <p:spPr>
          <a:xfrm>
            <a:off x="1028700" y="7968072"/>
            <a:ext cx="5952001"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000" u="none" cap="none" strike="noStrike">
                <a:solidFill>
                  <a:srgbClr val="FEF9C4"/>
                </a:solidFill>
                <a:latin typeface="Lora"/>
                <a:ea typeface="Lora"/>
                <a:cs typeface="Lora"/>
                <a:sym typeface="Lora"/>
              </a:rPr>
              <a:t>Present by – Sunil Thakur</a:t>
            </a:r>
            <a:endParaRPr/>
          </a:p>
          <a:p>
            <a:pPr indent="0" lvl="0" marL="0" marR="0" rtl="0" algn="l">
              <a:lnSpc>
                <a:spcPct val="120000"/>
              </a:lnSpc>
              <a:spcBef>
                <a:spcPts val="0"/>
              </a:spcBef>
              <a:spcAft>
                <a:spcPts val="0"/>
              </a:spcAft>
              <a:buNone/>
            </a:pPr>
            <a:r>
              <a:rPr b="0" i="0" lang="en-US" sz="3000" u="none" cap="none" strike="noStrike">
                <a:solidFill>
                  <a:srgbClr val="FEF9C4"/>
                </a:solidFill>
                <a:latin typeface="Lora"/>
                <a:ea typeface="Lora"/>
                <a:cs typeface="Lora"/>
                <a:sym typeface="Lora"/>
              </a:rPr>
              <a:t>August 2026</a:t>
            </a:r>
            <a:endParaRPr/>
          </a:p>
        </p:txBody>
      </p:sp>
      <p:sp>
        <p:nvSpPr>
          <p:cNvPr id="101" name="Google Shape;101;p1"/>
          <p:cNvSpPr txBox="1"/>
          <p:nvPr/>
        </p:nvSpPr>
        <p:spPr>
          <a:xfrm>
            <a:off x="555005" y="9398614"/>
            <a:ext cx="9157113"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FEF9C4"/>
                </a:solidFill>
                <a:latin typeface="Lora"/>
                <a:ea typeface="Lora"/>
                <a:cs typeface="Lora"/>
                <a:sym typeface="Lora"/>
              </a:rPr>
              <a:t>SQL-Based Data Analysis &amp; Strategic Insights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033"/>
        </a:solidFill>
      </p:bgPr>
    </p:bg>
    <p:spTree>
      <p:nvGrpSpPr>
        <p:cNvPr id="109" name="Shape 109"/>
        <p:cNvGrpSpPr/>
        <p:nvPr/>
      </p:nvGrpSpPr>
      <p:grpSpPr>
        <a:xfrm>
          <a:off x="0" y="0"/>
          <a:ext cx="0" cy="0"/>
          <a:chOff x="0" y="0"/>
          <a:chExt cx="0" cy="0"/>
        </a:xfrm>
      </p:grpSpPr>
      <p:sp>
        <p:nvSpPr>
          <p:cNvPr id="110" name="Google Shape;110;p2"/>
          <p:cNvSpPr/>
          <p:nvPr/>
        </p:nvSpPr>
        <p:spPr>
          <a:xfrm>
            <a:off x="342900" y="222685"/>
            <a:ext cx="2243141" cy="1121570"/>
          </a:xfrm>
          <a:custGeom>
            <a:rect b="b" l="l" r="r" t="t"/>
            <a:pathLst>
              <a:path extrusionOk="0" h="1152525" w="2305050">
                <a:moveTo>
                  <a:pt x="0" y="0"/>
                </a:moveTo>
                <a:lnTo>
                  <a:pt x="2305050" y="0"/>
                </a:lnTo>
                <a:lnTo>
                  <a:pt x="2305050" y="1152525"/>
                </a:lnTo>
                <a:lnTo>
                  <a:pt x="0" y="1152525"/>
                </a:lnTo>
                <a:lnTo>
                  <a:pt x="0" y="0"/>
                </a:lnTo>
                <a:close/>
              </a:path>
            </a:pathLst>
          </a:custGeom>
          <a:blipFill rotWithShape="1">
            <a:blip r:embed="rId3">
              <a:alphaModFix/>
            </a:blip>
            <a:stretch>
              <a:fillRect b="0" l="0" r="0" t="0"/>
            </a:stretch>
          </a:blipFill>
          <a:ln>
            <a:noFill/>
          </a:ln>
        </p:spPr>
      </p:sp>
      <p:sp>
        <p:nvSpPr>
          <p:cNvPr id="111" name="Google Shape;111;p2"/>
          <p:cNvSpPr txBox="1"/>
          <p:nvPr/>
        </p:nvSpPr>
        <p:spPr>
          <a:xfrm>
            <a:off x="866775" y="1892808"/>
            <a:ext cx="4221807" cy="8191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400" u="none" cap="none" strike="noStrike">
                <a:solidFill>
                  <a:srgbClr val="FFFAC5"/>
                </a:solidFill>
                <a:latin typeface="Lora"/>
                <a:ea typeface="Lora"/>
                <a:cs typeface="Lora"/>
                <a:sym typeface="Lora"/>
              </a:rPr>
              <a:t>Introduction</a:t>
            </a:r>
            <a:endParaRPr/>
          </a:p>
        </p:txBody>
      </p:sp>
      <p:sp>
        <p:nvSpPr>
          <p:cNvPr descr="A colorful lines on a black background  Description automatically generated" id="112" name="Google Shape;112;p2"/>
          <p:cNvSpPr/>
          <p:nvPr/>
        </p:nvSpPr>
        <p:spPr>
          <a:xfrm>
            <a:off x="14164589" y="0"/>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90000"/>
            </a:blip>
            <a:stretch>
              <a:fillRect b="-190" l="0" r="0" t="0"/>
            </a:stretch>
          </a:blipFill>
          <a:ln>
            <a:noFill/>
          </a:ln>
        </p:spPr>
      </p:sp>
      <p:sp>
        <p:nvSpPr>
          <p:cNvPr descr="A colorful lines on a black background  Description automatically generated" id="113" name="Google Shape;113;p2"/>
          <p:cNvSpPr/>
          <p:nvPr/>
        </p:nvSpPr>
        <p:spPr>
          <a:xfrm rot="10800000">
            <a:off x="38" y="7941754"/>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42999"/>
            </a:blip>
            <a:stretch>
              <a:fillRect b="-190" l="0" r="0" t="0"/>
            </a:stretch>
          </a:blipFill>
          <a:ln>
            <a:noFill/>
          </a:ln>
        </p:spPr>
      </p:sp>
      <p:sp>
        <p:nvSpPr>
          <p:cNvPr descr="A gold trophy on a black box  AI-generated content may be incorrect." id="114" name="Google Shape;114;p2"/>
          <p:cNvSpPr/>
          <p:nvPr/>
        </p:nvSpPr>
        <p:spPr>
          <a:xfrm>
            <a:off x="12704086" y="1582617"/>
            <a:ext cx="5163598" cy="8704421"/>
          </a:xfrm>
          <a:custGeom>
            <a:rect b="b" l="l" r="r" t="t"/>
            <a:pathLst>
              <a:path extrusionOk="0" h="11605895" w="6884797">
                <a:moveTo>
                  <a:pt x="0" y="0"/>
                </a:moveTo>
                <a:lnTo>
                  <a:pt x="6884797" y="0"/>
                </a:lnTo>
                <a:lnTo>
                  <a:pt x="6884797" y="11605895"/>
                </a:lnTo>
                <a:lnTo>
                  <a:pt x="0" y="11605895"/>
                </a:lnTo>
                <a:lnTo>
                  <a:pt x="0" y="0"/>
                </a:lnTo>
                <a:close/>
              </a:path>
            </a:pathLst>
          </a:custGeom>
          <a:blipFill rotWithShape="1">
            <a:blip r:embed="rId5">
              <a:alphaModFix/>
            </a:blip>
            <a:stretch>
              <a:fillRect b="-11756" l="0" r="0" t="0"/>
            </a:stretch>
          </a:blipFill>
          <a:ln>
            <a:noFill/>
          </a:ln>
        </p:spPr>
      </p:sp>
      <p:sp>
        <p:nvSpPr>
          <p:cNvPr id="115" name="Google Shape;115;p2"/>
          <p:cNvSpPr txBox="1"/>
          <p:nvPr/>
        </p:nvSpPr>
        <p:spPr>
          <a:xfrm>
            <a:off x="1558474" y="9479031"/>
            <a:ext cx="10145837" cy="419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800" u="none" cap="none" strike="noStrike">
                <a:solidFill>
                  <a:srgbClr val="FFFAC5"/>
                </a:solidFill>
                <a:latin typeface="Lora"/>
                <a:ea typeface="Lora"/>
                <a:cs typeface="Lora"/>
                <a:sym typeface="Lora"/>
              </a:rPr>
              <a:t>Focus: RCB Performance • Players • Strategy • Team Results</a:t>
            </a:r>
            <a:endParaRPr/>
          </a:p>
        </p:txBody>
      </p:sp>
      <p:sp>
        <p:nvSpPr>
          <p:cNvPr id="116" name="Google Shape;116;p2"/>
          <p:cNvSpPr txBox="1"/>
          <p:nvPr/>
        </p:nvSpPr>
        <p:spPr>
          <a:xfrm>
            <a:off x="828675" y="3162300"/>
            <a:ext cx="12086131" cy="7124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800" u="none" cap="none" strike="noStrike">
                <a:solidFill>
                  <a:srgbClr val="FFFAC5"/>
                </a:solidFill>
                <a:latin typeface="Lora"/>
                <a:ea typeface="Lora"/>
                <a:cs typeface="Lora"/>
                <a:sym typeface="Lora"/>
              </a:rPr>
              <a:t>The IPL is one of the most popular and competitive T20 cricket leagues, where performance and strategy play a major role.</a:t>
            </a:r>
            <a:endParaRPr/>
          </a:p>
          <a:p>
            <a:pPr indent="0" lvl="0" marL="0" marR="0" rtl="0" algn="l">
              <a:lnSpc>
                <a:spcPct val="120000"/>
              </a:lnSpc>
              <a:spcBef>
                <a:spcPts val="0"/>
              </a:spcBef>
              <a:spcAft>
                <a:spcPts val="0"/>
              </a:spcAft>
              <a:buNone/>
            </a:pPr>
            <a:r>
              <a:t/>
            </a:r>
            <a:endParaRPr b="0" i="0" sz="2800" u="none" cap="none" strike="noStrike">
              <a:solidFill>
                <a:srgbClr val="FFFAC5"/>
              </a:solidFill>
              <a:latin typeface="Lora"/>
              <a:ea typeface="Lora"/>
              <a:cs typeface="Lora"/>
              <a:sym typeface="Lora"/>
            </a:endParaRPr>
          </a:p>
          <a:p>
            <a:pPr indent="0" lvl="0" marL="0" marR="0" rtl="0" algn="l">
              <a:lnSpc>
                <a:spcPct val="120000"/>
              </a:lnSpc>
              <a:spcBef>
                <a:spcPts val="0"/>
              </a:spcBef>
              <a:spcAft>
                <a:spcPts val="0"/>
              </a:spcAft>
              <a:buNone/>
            </a:pPr>
            <a:r>
              <a:rPr b="0" i="0" lang="en-US" sz="2800" u="none" cap="none" strike="noStrike">
                <a:solidFill>
                  <a:srgbClr val="FFFAC5"/>
                </a:solidFill>
                <a:latin typeface="Lora"/>
                <a:ea typeface="Lora"/>
                <a:cs typeface="Lora"/>
                <a:sym typeface="Lora"/>
              </a:rPr>
              <a:t>RCB is one of the most followed teams, known for its strong players and passionate fan base, but consistent team success has remained a challenge.</a:t>
            </a:r>
            <a:endParaRPr/>
          </a:p>
          <a:p>
            <a:pPr indent="0" lvl="0" marL="0" marR="0" rtl="0" algn="l">
              <a:lnSpc>
                <a:spcPct val="120000"/>
              </a:lnSpc>
              <a:spcBef>
                <a:spcPts val="0"/>
              </a:spcBef>
              <a:spcAft>
                <a:spcPts val="0"/>
              </a:spcAft>
              <a:buNone/>
            </a:pPr>
            <a:r>
              <a:t/>
            </a:r>
            <a:endParaRPr b="0" i="0" sz="2800" u="none" cap="none" strike="noStrike">
              <a:solidFill>
                <a:srgbClr val="FFFAC5"/>
              </a:solidFill>
              <a:latin typeface="Lora"/>
              <a:ea typeface="Lora"/>
              <a:cs typeface="Lora"/>
              <a:sym typeface="Lora"/>
            </a:endParaRPr>
          </a:p>
          <a:p>
            <a:pPr indent="0" lvl="0" marL="0" marR="0" rtl="0" algn="l">
              <a:lnSpc>
                <a:spcPct val="120000"/>
              </a:lnSpc>
              <a:spcBef>
                <a:spcPts val="0"/>
              </a:spcBef>
              <a:spcAft>
                <a:spcPts val="0"/>
              </a:spcAft>
              <a:buNone/>
            </a:pPr>
            <a:r>
              <a:rPr b="0" i="0" lang="en-US" sz="2800" u="none" cap="none" strike="noStrike">
                <a:solidFill>
                  <a:srgbClr val="FFFAC5"/>
                </a:solidFill>
                <a:latin typeface="Lora"/>
                <a:ea typeface="Lora"/>
                <a:cs typeface="Lora"/>
                <a:sym typeface="Lora"/>
              </a:rPr>
              <a:t>This project analyzes RCB's past performance to identify strengths, weaknesses, player contributions and key factors affecting results.</a:t>
            </a:r>
            <a:endParaRPr/>
          </a:p>
          <a:p>
            <a:pPr indent="0" lvl="0" marL="0" marR="0" rtl="0" algn="l">
              <a:lnSpc>
                <a:spcPct val="120000"/>
              </a:lnSpc>
              <a:spcBef>
                <a:spcPts val="0"/>
              </a:spcBef>
              <a:spcAft>
                <a:spcPts val="0"/>
              </a:spcAft>
              <a:buNone/>
            </a:pPr>
            <a:r>
              <a:t/>
            </a:r>
            <a:endParaRPr b="0" i="0" sz="2800" u="none" cap="none" strike="noStrike">
              <a:solidFill>
                <a:srgbClr val="FFFAC5"/>
              </a:solidFill>
              <a:latin typeface="Lora"/>
              <a:ea typeface="Lora"/>
              <a:cs typeface="Lora"/>
              <a:sym typeface="Lora"/>
            </a:endParaRPr>
          </a:p>
          <a:p>
            <a:pPr indent="0" lvl="0" marL="0" marR="0" rtl="0" algn="l">
              <a:lnSpc>
                <a:spcPct val="120000"/>
              </a:lnSpc>
              <a:spcBef>
                <a:spcPts val="0"/>
              </a:spcBef>
              <a:spcAft>
                <a:spcPts val="0"/>
              </a:spcAft>
              <a:buNone/>
            </a:pPr>
            <a:r>
              <a:t/>
            </a:r>
            <a:endParaRPr b="0" i="0" sz="2800" u="none" cap="none" strike="noStrike">
              <a:solidFill>
                <a:srgbClr val="FFFAC5"/>
              </a:solidFill>
              <a:latin typeface="Lora"/>
              <a:ea typeface="Lora"/>
              <a:cs typeface="Lora"/>
              <a:sym typeface="Lora"/>
            </a:endParaRPr>
          </a:p>
          <a:p>
            <a:pPr indent="0" lvl="0" marL="0" marR="0" rtl="0" algn="l">
              <a:lnSpc>
                <a:spcPct val="120000"/>
              </a:lnSpc>
              <a:spcBef>
                <a:spcPts val="0"/>
              </a:spcBef>
              <a:spcAft>
                <a:spcPts val="0"/>
              </a:spcAft>
              <a:buNone/>
            </a:pPr>
            <a:r>
              <a:t/>
            </a:r>
            <a:endParaRPr b="0" i="0" sz="2800" u="none" cap="none" strike="noStrike">
              <a:solidFill>
                <a:srgbClr val="FFFAC5"/>
              </a:solidFill>
              <a:latin typeface="Lora"/>
              <a:ea typeface="Lora"/>
              <a:cs typeface="Lora"/>
              <a:sym typeface="Lora"/>
            </a:endParaRPr>
          </a:p>
          <a:p>
            <a:pPr indent="0" lvl="0" marL="0" marR="0" rtl="0" algn="l">
              <a:lnSpc>
                <a:spcPct val="120000"/>
              </a:lnSpc>
              <a:spcBef>
                <a:spcPts val="0"/>
              </a:spcBef>
              <a:spcAft>
                <a:spcPts val="0"/>
              </a:spcAft>
              <a:buNone/>
            </a:pPr>
            <a:r>
              <a:t/>
            </a:r>
            <a:endParaRPr b="0" i="0" sz="2800" u="none" cap="none" strike="noStrike">
              <a:solidFill>
                <a:srgbClr val="FFFAC5"/>
              </a:solidFill>
              <a:latin typeface="Lora"/>
              <a:ea typeface="Lora"/>
              <a:cs typeface="Lora"/>
              <a:sym typeface="Lora"/>
            </a:endParaRPr>
          </a:p>
          <a:p>
            <a:pPr indent="0" lvl="0" marL="0" marR="0" rtl="0" algn="l">
              <a:lnSpc>
                <a:spcPct val="120000"/>
              </a:lnSpc>
              <a:spcBef>
                <a:spcPts val="0"/>
              </a:spcBef>
              <a:spcAft>
                <a:spcPts val="0"/>
              </a:spcAft>
              <a:buNone/>
            </a:pPr>
            <a:r>
              <a:t/>
            </a:r>
            <a:endParaRPr b="0" i="0" sz="2800" u="none" cap="none" strike="noStrike">
              <a:solidFill>
                <a:srgbClr val="FFFAC5"/>
              </a:solidFill>
              <a:latin typeface="Lora"/>
              <a:ea typeface="Lora"/>
              <a:cs typeface="Lora"/>
              <a:sym typeface="Lora"/>
            </a:endParaRPr>
          </a:p>
          <a:p>
            <a:pPr indent="0" lvl="0" marL="0" marR="0" rtl="0" algn="l">
              <a:lnSpc>
                <a:spcPct val="120000"/>
              </a:lnSpc>
              <a:spcBef>
                <a:spcPts val="0"/>
              </a:spcBef>
              <a:spcAft>
                <a:spcPts val="0"/>
              </a:spcAft>
              <a:buNone/>
            </a:pPr>
            <a:r>
              <a:t/>
            </a:r>
            <a:endParaRPr b="0" i="0" sz="2800" u="none" cap="none" strike="noStrike">
              <a:solidFill>
                <a:srgbClr val="FFFAC5"/>
              </a:solidFill>
              <a:latin typeface="Lora"/>
              <a:ea typeface="Lora"/>
              <a:cs typeface="Lora"/>
              <a:sym typeface="Lora"/>
            </a:endParaRPr>
          </a:p>
          <a:p>
            <a:pPr indent="0" lvl="0" marL="0" marR="0" rtl="0" algn="l">
              <a:lnSpc>
                <a:spcPct val="120000"/>
              </a:lnSpc>
              <a:spcBef>
                <a:spcPts val="0"/>
              </a:spcBef>
              <a:spcAft>
                <a:spcPts val="0"/>
              </a:spcAft>
              <a:buNone/>
            </a:pPr>
            <a:r>
              <a:t/>
            </a:r>
            <a:endParaRPr b="0" i="0" sz="2800" u="none" cap="none" strike="noStrike">
              <a:solidFill>
                <a:srgbClr val="FFFAC5"/>
              </a:solidFill>
              <a:latin typeface="Lora"/>
              <a:ea typeface="Lora"/>
              <a:cs typeface="Lora"/>
              <a:sym typeface="Lora"/>
            </a:endParaRPr>
          </a:p>
          <a:p>
            <a:pPr indent="0" lvl="0" marL="0" marR="0" rtl="0" algn="l">
              <a:lnSpc>
                <a:spcPct val="120000"/>
              </a:lnSpc>
              <a:spcBef>
                <a:spcPts val="0"/>
              </a:spcBef>
              <a:spcAft>
                <a:spcPts val="0"/>
              </a:spcAft>
              <a:buNone/>
            </a:pPr>
            <a:r>
              <a:t/>
            </a:r>
            <a:endParaRPr b="0" i="0" sz="2800" u="none" cap="none" strike="noStrike">
              <a:solidFill>
                <a:srgbClr val="FFFAC5"/>
              </a:solidFill>
              <a:latin typeface="Lora"/>
              <a:ea typeface="Lora"/>
              <a:cs typeface="Lora"/>
              <a:sym typeface="L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033"/>
        </a:solidFill>
      </p:bgPr>
    </p:bg>
    <p:spTree>
      <p:nvGrpSpPr>
        <p:cNvPr id="124" name="Shape 124"/>
        <p:cNvGrpSpPr/>
        <p:nvPr/>
      </p:nvGrpSpPr>
      <p:grpSpPr>
        <a:xfrm>
          <a:off x="0" y="0"/>
          <a:ext cx="0" cy="0"/>
          <a:chOff x="0" y="0"/>
          <a:chExt cx="0" cy="0"/>
        </a:xfrm>
      </p:grpSpPr>
      <p:sp>
        <p:nvSpPr>
          <p:cNvPr id="125" name="Google Shape;125;p3"/>
          <p:cNvSpPr/>
          <p:nvPr/>
        </p:nvSpPr>
        <p:spPr>
          <a:xfrm>
            <a:off x="342900" y="222685"/>
            <a:ext cx="2209533" cy="1104767"/>
          </a:xfrm>
          <a:custGeom>
            <a:rect b="b" l="l" r="r" t="t"/>
            <a:pathLst>
              <a:path extrusionOk="0" h="1152525" w="2305050">
                <a:moveTo>
                  <a:pt x="0" y="0"/>
                </a:moveTo>
                <a:lnTo>
                  <a:pt x="2305050" y="0"/>
                </a:lnTo>
                <a:lnTo>
                  <a:pt x="2305050" y="1152525"/>
                </a:lnTo>
                <a:lnTo>
                  <a:pt x="0" y="1152525"/>
                </a:lnTo>
                <a:lnTo>
                  <a:pt x="0" y="0"/>
                </a:lnTo>
                <a:close/>
              </a:path>
            </a:pathLst>
          </a:custGeom>
          <a:blipFill rotWithShape="1">
            <a:blip r:embed="rId3">
              <a:alphaModFix/>
            </a:blip>
            <a:stretch>
              <a:fillRect b="0" l="0" r="0" t="0"/>
            </a:stretch>
          </a:blipFill>
          <a:ln>
            <a:noFill/>
          </a:ln>
        </p:spPr>
      </p:sp>
      <p:sp>
        <p:nvSpPr>
          <p:cNvPr id="126" name="Google Shape;126;p3"/>
          <p:cNvSpPr txBox="1"/>
          <p:nvPr/>
        </p:nvSpPr>
        <p:spPr>
          <a:xfrm>
            <a:off x="568414" y="3505231"/>
            <a:ext cx="11810657" cy="2065021"/>
          </a:xfrm>
          <a:prstGeom prst="rect">
            <a:avLst/>
          </a:prstGeom>
          <a:noFill/>
          <a:ln>
            <a:noFill/>
          </a:ln>
        </p:spPr>
        <p:txBody>
          <a:bodyPr anchorCtr="0" anchor="t" bIns="0" lIns="0" spcFirstLastPara="1" rIns="0" wrap="square" tIns="0">
            <a:spAutoFit/>
          </a:bodyPr>
          <a:lstStyle/>
          <a:p>
            <a:pPr indent="0" lvl="0" marL="0" marR="0" rtl="0" algn="l">
              <a:lnSpc>
                <a:spcPct val="150017"/>
              </a:lnSpc>
              <a:spcBef>
                <a:spcPts val="0"/>
              </a:spcBef>
              <a:spcAft>
                <a:spcPts val="0"/>
              </a:spcAft>
              <a:buNone/>
            </a:pPr>
            <a:r>
              <a:rPr b="0" i="0" lang="en-US" sz="2799" u="none" cap="none" strike="noStrike">
                <a:solidFill>
                  <a:srgbClr val="FFFAC5"/>
                </a:solidFill>
                <a:latin typeface="Lora"/>
                <a:ea typeface="Lora"/>
                <a:cs typeface="Lora"/>
                <a:sym typeface="Lora"/>
              </a:rPr>
              <a:t>RCB has produced strong individual performances, but consistent team success has remained a challenge. The key problem is to understand the factors affecting team performance and identify areas where strategy and player selection can be improved.</a:t>
            </a:r>
            <a:endParaRPr/>
          </a:p>
        </p:txBody>
      </p:sp>
      <p:sp>
        <p:nvSpPr>
          <p:cNvPr id="127" name="Google Shape;127;p3"/>
          <p:cNvSpPr txBox="1"/>
          <p:nvPr/>
        </p:nvSpPr>
        <p:spPr>
          <a:xfrm>
            <a:off x="568414" y="2044867"/>
            <a:ext cx="6367016" cy="8191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400" u="none" cap="none" strike="noStrike">
                <a:solidFill>
                  <a:srgbClr val="FFFAC5"/>
                </a:solidFill>
                <a:latin typeface="Lora"/>
                <a:ea typeface="Lora"/>
                <a:cs typeface="Lora"/>
                <a:sym typeface="Lora"/>
              </a:rPr>
              <a:t>Problem Statement</a:t>
            </a:r>
            <a:endParaRPr/>
          </a:p>
        </p:txBody>
      </p:sp>
      <p:sp>
        <p:nvSpPr>
          <p:cNvPr descr="A colorful lines on a black background  Description automatically generated" id="128" name="Google Shape;128;p3"/>
          <p:cNvSpPr/>
          <p:nvPr/>
        </p:nvSpPr>
        <p:spPr>
          <a:xfrm>
            <a:off x="14164589" y="0"/>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90000"/>
            </a:blip>
            <a:stretch>
              <a:fillRect b="-190" l="0" r="0" t="0"/>
            </a:stretch>
          </a:blipFill>
          <a:ln>
            <a:noFill/>
          </a:ln>
        </p:spPr>
      </p:sp>
      <p:sp>
        <p:nvSpPr>
          <p:cNvPr descr="A colorful lines on a black background  Description automatically generated" id="129" name="Google Shape;129;p3"/>
          <p:cNvSpPr/>
          <p:nvPr/>
        </p:nvSpPr>
        <p:spPr>
          <a:xfrm rot="10800000">
            <a:off x="10016" y="7941754"/>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42999"/>
            </a:blip>
            <a:stretch>
              <a:fillRect b="-190" l="0" r="0" t="0"/>
            </a:stretch>
          </a:blipFill>
          <a:ln>
            <a:noFill/>
          </a:ln>
        </p:spPr>
      </p:sp>
      <p:sp>
        <p:nvSpPr>
          <p:cNvPr descr="A gold trophy on a black box  AI-generated content may be incorrect." id="130" name="Google Shape;130;p3"/>
          <p:cNvSpPr/>
          <p:nvPr/>
        </p:nvSpPr>
        <p:spPr>
          <a:xfrm>
            <a:off x="12705340" y="1582617"/>
            <a:ext cx="5163598" cy="8704421"/>
          </a:xfrm>
          <a:custGeom>
            <a:rect b="b" l="l" r="r" t="t"/>
            <a:pathLst>
              <a:path extrusionOk="0" h="11605895" w="6884797">
                <a:moveTo>
                  <a:pt x="0" y="0"/>
                </a:moveTo>
                <a:lnTo>
                  <a:pt x="6884797" y="0"/>
                </a:lnTo>
                <a:lnTo>
                  <a:pt x="6884797" y="11605895"/>
                </a:lnTo>
                <a:lnTo>
                  <a:pt x="0" y="11605895"/>
                </a:lnTo>
                <a:lnTo>
                  <a:pt x="0" y="0"/>
                </a:lnTo>
                <a:close/>
              </a:path>
            </a:pathLst>
          </a:custGeom>
          <a:blipFill rotWithShape="1">
            <a:blip r:embed="rId5">
              <a:alphaModFix/>
            </a:blip>
            <a:stretch>
              <a:fillRect b="-11756" l="0" r="0" t="0"/>
            </a:stretch>
          </a:blipFill>
          <a:ln>
            <a:noFill/>
          </a:ln>
        </p:spPr>
      </p:sp>
      <p:sp>
        <p:nvSpPr>
          <p:cNvPr id="131" name="Google Shape;131;p3"/>
          <p:cNvSpPr txBox="1"/>
          <p:nvPr/>
        </p:nvSpPr>
        <p:spPr>
          <a:xfrm>
            <a:off x="568414" y="6395482"/>
            <a:ext cx="11810657" cy="41910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1" i="0" lang="en-US" sz="2799" u="none" cap="none" strike="noStrike">
                <a:solidFill>
                  <a:srgbClr val="FFFAC5"/>
                </a:solidFill>
                <a:latin typeface="Lora"/>
                <a:ea typeface="Lora"/>
                <a:cs typeface="Lora"/>
                <a:sym typeface="Lora"/>
              </a:rPr>
              <a:t>Performance Gaps</a:t>
            </a:r>
            <a:endParaRPr/>
          </a:p>
          <a:p>
            <a:pPr indent="0" lvl="0" marL="0" marR="0" rtl="0" algn="l">
              <a:lnSpc>
                <a:spcPct val="120007"/>
              </a:lnSpc>
              <a:spcBef>
                <a:spcPts val="0"/>
              </a:spcBef>
              <a:spcAft>
                <a:spcPts val="0"/>
              </a:spcAft>
              <a:buNone/>
            </a:pPr>
            <a:r>
              <a:rPr b="0" i="0" lang="en-US" sz="2799" u="none" cap="none" strike="noStrike">
                <a:solidFill>
                  <a:srgbClr val="FFFAC5"/>
                </a:solidFill>
                <a:latin typeface="Lora"/>
                <a:ea typeface="Lora"/>
                <a:cs typeface="Lora"/>
                <a:sym typeface="Lora"/>
              </a:rPr>
              <a:t>Identify seasons and situations where RCB struggled.</a:t>
            </a:r>
            <a:endParaRPr/>
          </a:p>
          <a:p>
            <a:pPr indent="0" lvl="0" marL="0" marR="0" rtl="0" algn="l">
              <a:lnSpc>
                <a:spcPct val="120007"/>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0" lvl="0" marL="0" marR="0" rtl="0" algn="l">
              <a:lnSpc>
                <a:spcPct val="120007"/>
              </a:lnSpc>
              <a:spcBef>
                <a:spcPts val="0"/>
              </a:spcBef>
              <a:spcAft>
                <a:spcPts val="0"/>
              </a:spcAft>
              <a:buNone/>
            </a:pPr>
            <a:r>
              <a:rPr b="1" i="0" lang="en-US" sz="2799" u="none" cap="none" strike="noStrike">
                <a:solidFill>
                  <a:srgbClr val="FFFAC5"/>
                </a:solidFill>
                <a:latin typeface="Lora"/>
                <a:ea typeface="Lora"/>
                <a:cs typeface="Lora"/>
                <a:sym typeface="Lora"/>
              </a:rPr>
              <a:t>Player Contribution</a:t>
            </a:r>
            <a:endParaRPr/>
          </a:p>
          <a:p>
            <a:pPr indent="0" lvl="0" marL="0" marR="0" rtl="0" algn="l">
              <a:lnSpc>
                <a:spcPct val="120007"/>
              </a:lnSpc>
              <a:spcBef>
                <a:spcPts val="0"/>
              </a:spcBef>
              <a:spcAft>
                <a:spcPts val="0"/>
              </a:spcAft>
              <a:buNone/>
            </a:pPr>
            <a:r>
              <a:rPr b="0" i="0" lang="en-US" sz="2799" u="none" cap="none" strike="noStrike">
                <a:solidFill>
                  <a:srgbClr val="FFFAC5"/>
                </a:solidFill>
                <a:latin typeface="Lora"/>
                <a:ea typeface="Lora"/>
                <a:cs typeface="Lora"/>
                <a:sym typeface="Lora"/>
              </a:rPr>
              <a:t>Identify players who consistently influenced results.</a:t>
            </a:r>
            <a:endParaRPr/>
          </a:p>
          <a:p>
            <a:pPr indent="0" lvl="0" marL="0" marR="0" rtl="0" algn="l">
              <a:lnSpc>
                <a:spcPct val="120007"/>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0" lvl="0" marL="0" marR="0" rtl="0" algn="l">
              <a:lnSpc>
                <a:spcPct val="120007"/>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0" lvl="0" marL="0" marR="0" rtl="0" algn="l">
              <a:lnSpc>
                <a:spcPct val="120007"/>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0" lvl="0" marL="0" marR="0" rtl="0" algn="l">
              <a:lnSpc>
                <a:spcPct val="120007"/>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0" lvl="0" marL="0" marR="0" rtl="0" algn="l">
              <a:lnSpc>
                <a:spcPct val="120007"/>
              </a:lnSpc>
              <a:spcBef>
                <a:spcPts val="0"/>
              </a:spcBef>
              <a:spcAft>
                <a:spcPts val="0"/>
              </a:spcAft>
              <a:buNone/>
            </a:pPr>
            <a:r>
              <a:t/>
            </a:r>
            <a:endParaRPr b="0" i="0" sz="2799" u="none" cap="none" strike="noStrike">
              <a:solidFill>
                <a:srgbClr val="FFFAC5"/>
              </a:solidFill>
              <a:latin typeface="Lora"/>
              <a:ea typeface="Lora"/>
              <a:cs typeface="Lora"/>
              <a:sym typeface="L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033"/>
        </a:solidFill>
      </p:bgPr>
    </p:bg>
    <p:spTree>
      <p:nvGrpSpPr>
        <p:cNvPr id="139" name="Shape 139"/>
        <p:cNvGrpSpPr/>
        <p:nvPr/>
      </p:nvGrpSpPr>
      <p:grpSpPr>
        <a:xfrm>
          <a:off x="0" y="0"/>
          <a:ext cx="0" cy="0"/>
          <a:chOff x="0" y="0"/>
          <a:chExt cx="0" cy="0"/>
        </a:xfrm>
      </p:grpSpPr>
      <p:sp>
        <p:nvSpPr>
          <p:cNvPr id="140" name="Google Shape;140;p4"/>
          <p:cNvSpPr/>
          <p:nvPr/>
        </p:nvSpPr>
        <p:spPr>
          <a:xfrm>
            <a:off x="342900" y="222685"/>
            <a:ext cx="2342941" cy="1171470"/>
          </a:xfrm>
          <a:custGeom>
            <a:rect b="b" l="l" r="r" t="t"/>
            <a:pathLst>
              <a:path extrusionOk="0" h="1152525" w="2305050">
                <a:moveTo>
                  <a:pt x="0" y="0"/>
                </a:moveTo>
                <a:lnTo>
                  <a:pt x="2305050" y="0"/>
                </a:lnTo>
                <a:lnTo>
                  <a:pt x="2305050" y="1152525"/>
                </a:lnTo>
                <a:lnTo>
                  <a:pt x="0" y="1152525"/>
                </a:lnTo>
                <a:lnTo>
                  <a:pt x="0" y="0"/>
                </a:lnTo>
                <a:close/>
              </a:path>
            </a:pathLst>
          </a:custGeom>
          <a:blipFill rotWithShape="1">
            <a:blip r:embed="rId3">
              <a:alphaModFix/>
            </a:blip>
            <a:stretch>
              <a:fillRect b="0" l="0" r="0" t="0"/>
            </a:stretch>
          </a:blipFill>
          <a:ln>
            <a:noFill/>
          </a:ln>
        </p:spPr>
      </p:sp>
      <p:sp>
        <p:nvSpPr>
          <p:cNvPr id="141" name="Google Shape;141;p4"/>
          <p:cNvSpPr txBox="1"/>
          <p:nvPr/>
        </p:nvSpPr>
        <p:spPr>
          <a:xfrm>
            <a:off x="894683" y="2888237"/>
            <a:ext cx="11360751" cy="2588896"/>
          </a:xfrm>
          <a:prstGeom prst="rect">
            <a:avLst/>
          </a:prstGeom>
          <a:noFill/>
          <a:ln>
            <a:noFill/>
          </a:ln>
        </p:spPr>
        <p:txBody>
          <a:bodyPr anchorCtr="0" anchor="t" bIns="0" lIns="0" spcFirstLastPara="1" rIns="0" wrap="square" tIns="0">
            <a:spAutoFit/>
          </a:bodyPr>
          <a:lstStyle/>
          <a:p>
            <a:pPr indent="0" lvl="0" marL="0" marR="0" rtl="0" algn="l">
              <a:lnSpc>
                <a:spcPct val="150017"/>
              </a:lnSpc>
              <a:spcBef>
                <a:spcPts val="0"/>
              </a:spcBef>
              <a:spcAft>
                <a:spcPts val="0"/>
              </a:spcAft>
              <a:buNone/>
            </a:pPr>
            <a:r>
              <a:rPr b="0" i="0" lang="en-US" sz="2799" u="none" cap="none" strike="noStrike">
                <a:solidFill>
                  <a:srgbClr val="FFFAC5"/>
                </a:solidFill>
                <a:latin typeface="Lora"/>
                <a:ea typeface="Lora"/>
                <a:cs typeface="Lora"/>
                <a:sym typeface="Lora"/>
              </a:rPr>
              <a:t>The objective of this project is to analyze RCB's past IPL performance and identify key factors affecting team success. The analysis focuses on player contributions, team performance, match patterns and strategic areas for improvement using historical IPL data.</a:t>
            </a:r>
            <a:endParaRPr/>
          </a:p>
        </p:txBody>
      </p:sp>
      <p:sp>
        <p:nvSpPr>
          <p:cNvPr id="142" name="Google Shape;142;p4"/>
          <p:cNvSpPr txBox="1"/>
          <p:nvPr/>
        </p:nvSpPr>
        <p:spPr>
          <a:xfrm>
            <a:off x="894683" y="1832277"/>
            <a:ext cx="3091607" cy="8191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400" u="none" cap="none" strike="noStrike">
                <a:solidFill>
                  <a:srgbClr val="FFFAC5"/>
                </a:solidFill>
                <a:latin typeface="Lora"/>
                <a:ea typeface="Lora"/>
                <a:cs typeface="Lora"/>
                <a:sym typeface="Lora"/>
              </a:rPr>
              <a:t>Objective</a:t>
            </a:r>
            <a:endParaRPr/>
          </a:p>
        </p:txBody>
      </p:sp>
      <p:sp>
        <p:nvSpPr>
          <p:cNvPr descr="A colorful lines on a black background  Description automatically generated" id="143" name="Google Shape;143;p4"/>
          <p:cNvSpPr/>
          <p:nvPr/>
        </p:nvSpPr>
        <p:spPr>
          <a:xfrm>
            <a:off x="14164589" y="0"/>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90000"/>
            </a:blip>
            <a:stretch>
              <a:fillRect b="-190" l="0" r="0" t="0"/>
            </a:stretch>
          </a:blipFill>
          <a:ln>
            <a:noFill/>
          </a:ln>
        </p:spPr>
      </p:sp>
      <p:sp>
        <p:nvSpPr>
          <p:cNvPr descr="A colorful lines on a black background  Description automatically generated" id="144" name="Google Shape;144;p4"/>
          <p:cNvSpPr/>
          <p:nvPr/>
        </p:nvSpPr>
        <p:spPr>
          <a:xfrm rot="10800000">
            <a:off x="30" y="7941754"/>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42999"/>
            </a:blip>
            <a:stretch>
              <a:fillRect b="-190" l="0" r="0" t="0"/>
            </a:stretch>
          </a:blipFill>
          <a:ln>
            <a:noFill/>
          </a:ln>
        </p:spPr>
      </p:sp>
      <p:sp>
        <p:nvSpPr>
          <p:cNvPr descr="A gold trophy on a black box  AI-generated content may be incorrect." id="145" name="Google Shape;145;p4"/>
          <p:cNvSpPr/>
          <p:nvPr/>
        </p:nvSpPr>
        <p:spPr>
          <a:xfrm>
            <a:off x="12705340" y="1582617"/>
            <a:ext cx="5163598" cy="8704421"/>
          </a:xfrm>
          <a:custGeom>
            <a:rect b="b" l="l" r="r" t="t"/>
            <a:pathLst>
              <a:path extrusionOk="0" h="11605895" w="6884797">
                <a:moveTo>
                  <a:pt x="0" y="0"/>
                </a:moveTo>
                <a:lnTo>
                  <a:pt x="6884797" y="0"/>
                </a:lnTo>
                <a:lnTo>
                  <a:pt x="6884797" y="11605895"/>
                </a:lnTo>
                <a:lnTo>
                  <a:pt x="0" y="11605895"/>
                </a:lnTo>
                <a:lnTo>
                  <a:pt x="0" y="0"/>
                </a:lnTo>
                <a:close/>
              </a:path>
            </a:pathLst>
          </a:custGeom>
          <a:blipFill rotWithShape="1">
            <a:blip r:embed="rId5">
              <a:alphaModFix/>
            </a:blip>
            <a:stretch>
              <a:fillRect b="-11756" l="0" r="0" t="0"/>
            </a:stretch>
          </a:blipFill>
          <a:ln>
            <a:noFill/>
          </a:ln>
        </p:spPr>
      </p:sp>
      <p:sp>
        <p:nvSpPr>
          <p:cNvPr id="146" name="Google Shape;146;p4"/>
          <p:cNvSpPr txBox="1"/>
          <p:nvPr/>
        </p:nvSpPr>
        <p:spPr>
          <a:xfrm>
            <a:off x="894683" y="6168135"/>
            <a:ext cx="11360751" cy="29337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1" i="0" lang="en-US" sz="2799" u="none" cap="none" strike="noStrike">
                <a:solidFill>
                  <a:srgbClr val="FFFAC5"/>
                </a:solidFill>
                <a:latin typeface="Lora"/>
                <a:ea typeface="Lora"/>
                <a:cs typeface="Lora"/>
                <a:sym typeface="Lora"/>
              </a:rPr>
              <a:t>Analyze Team Performance</a:t>
            </a:r>
            <a:endParaRPr/>
          </a:p>
          <a:p>
            <a:pPr indent="0" lvl="0" marL="0" marR="0" rtl="0" algn="l">
              <a:lnSpc>
                <a:spcPct val="120007"/>
              </a:lnSpc>
              <a:spcBef>
                <a:spcPts val="0"/>
              </a:spcBef>
              <a:spcAft>
                <a:spcPts val="0"/>
              </a:spcAft>
              <a:buNone/>
            </a:pPr>
            <a:r>
              <a:rPr b="0" i="0" lang="en-US" sz="2799" u="none" cap="none" strike="noStrike">
                <a:solidFill>
                  <a:srgbClr val="FFFAC5"/>
                </a:solidFill>
                <a:latin typeface="Lora"/>
                <a:ea typeface="Lora"/>
                <a:cs typeface="Lora"/>
                <a:sym typeface="Lora"/>
              </a:rPr>
              <a:t> Evaluate RCB's performance across seasons and matches.</a:t>
            </a:r>
            <a:endParaRPr/>
          </a:p>
          <a:p>
            <a:pPr indent="0" lvl="0" marL="0" marR="0" rtl="0" algn="l">
              <a:lnSpc>
                <a:spcPct val="120007"/>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0" lvl="0" marL="0" marR="0" rtl="0" algn="l">
              <a:lnSpc>
                <a:spcPct val="120007"/>
              </a:lnSpc>
              <a:spcBef>
                <a:spcPts val="0"/>
              </a:spcBef>
              <a:spcAft>
                <a:spcPts val="0"/>
              </a:spcAft>
              <a:buNone/>
            </a:pPr>
            <a:r>
              <a:rPr b="1" i="0" lang="en-US" sz="2799" u="none" cap="none" strike="noStrike">
                <a:solidFill>
                  <a:srgbClr val="FFFAC5"/>
                </a:solidFill>
                <a:latin typeface="Lora"/>
                <a:ea typeface="Lora"/>
                <a:cs typeface="Lora"/>
                <a:sym typeface="Lora"/>
              </a:rPr>
              <a:t>Identify Key Players &amp; Strategy</a:t>
            </a:r>
            <a:endParaRPr/>
          </a:p>
          <a:p>
            <a:pPr indent="0" lvl="0" marL="0" marR="0" rtl="0" algn="l">
              <a:lnSpc>
                <a:spcPct val="120007"/>
              </a:lnSpc>
              <a:spcBef>
                <a:spcPts val="0"/>
              </a:spcBef>
              <a:spcAft>
                <a:spcPts val="0"/>
              </a:spcAft>
              <a:buNone/>
            </a:pPr>
            <a:r>
              <a:rPr b="0" i="0" lang="en-US" sz="2799" u="none" cap="none" strike="noStrike">
                <a:solidFill>
                  <a:srgbClr val="FFFAC5"/>
                </a:solidFill>
                <a:latin typeface="Lora"/>
                <a:ea typeface="Lora"/>
                <a:cs typeface="Lora"/>
                <a:sym typeface="Lora"/>
              </a:rPr>
              <a:t> Understand player contributions and use data-driven insights for better team decisions.</a:t>
            </a:r>
            <a:endParaRPr/>
          </a:p>
          <a:p>
            <a:pPr indent="0" lvl="0" marL="0" marR="0" rtl="0" algn="l">
              <a:lnSpc>
                <a:spcPct val="120007"/>
              </a:lnSpc>
              <a:spcBef>
                <a:spcPts val="0"/>
              </a:spcBef>
              <a:spcAft>
                <a:spcPts val="0"/>
              </a:spcAft>
              <a:buNone/>
            </a:pPr>
            <a:r>
              <a:t/>
            </a:r>
            <a:endParaRPr b="0" i="0" sz="2799" u="none" cap="none" strike="noStrike">
              <a:solidFill>
                <a:srgbClr val="FFFAC5"/>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033"/>
        </a:solidFill>
      </p:bgPr>
    </p:bg>
    <p:spTree>
      <p:nvGrpSpPr>
        <p:cNvPr id="154" name="Shape 154"/>
        <p:cNvGrpSpPr/>
        <p:nvPr/>
      </p:nvGrpSpPr>
      <p:grpSpPr>
        <a:xfrm>
          <a:off x="0" y="0"/>
          <a:ext cx="0" cy="0"/>
          <a:chOff x="0" y="0"/>
          <a:chExt cx="0" cy="0"/>
        </a:xfrm>
      </p:grpSpPr>
      <p:sp>
        <p:nvSpPr>
          <p:cNvPr id="155" name="Google Shape;155;p5"/>
          <p:cNvSpPr/>
          <p:nvPr/>
        </p:nvSpPr>
        <p:spPr>
          <a:xfrm>
            <a:off x="342900" y="222685"/>
            <a:ext cx="2392398" cy="1196199"/>
          </a:xfrm>
          <a:custGeom>
            <a:rect b="b" l="l" r="r" t="t"/>
            <a:pathLst>
              <a:path extrusionOk="0" h="1152525" w="2305050">
                <a:moveTo>
                  <a:pt x="0" y="0"/>
                </a:moveTo>
                <a:lnTo>
                  <a:pt x="2305050" y="0"/>
                </a:lnTo>
                <a:lnTo>
                  <a:pt x="2305050" y="1152525"/>
                </a:lnTo>
                <a:lnTo>
                  <a:pt x="0" y="1152525"/>
                </a:lnTo>
                <a:lnTo>
                  <a:pt x="0" y="0"/>
                </a:lnTo>
                <a:close/>
              </a:path>
            </a:pathLst>
          </a:custGeom>
          <a:blipFill rotWithShape="1">
            <a:blip r:embed="rId3">
              <a:alphaModFix/>
            </a:blip>
            <a:stretch>
              <a:fillRect b="0" l="0" r="0" t="0"/>
            </a:stretch>
          </a:blipFill>
          <a:ln>
            <a:noFill/>
          </a:ln>
        </p:spPr>
      </p:sp>
      <p:sp>
        <p:nvSpPr>
          <p:cNvPr id="156" name="Google Shape;156;p5"/>
          <p:cNvSpPr txBox="1"/>
          <p:nvPr/>
        </p:nvSpPr>
        <p:spPr>
          <a:xfrm>
            <a:off x="6200175" y="852897"/>
            <a:ext cx="5887641" cy="8191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5400" u="none" cap="none" strike="noStrike">
                <a:solidFill>
                  <a:srgbClr val="FFFAC5"/>
                </a:solidFill>
                <a:latin typeface="Lora"/>
                <a:ea typeface="Lora"/>
                <a:cs typeface="Lora"/>
                <a:sym typeface="Lora"/>
              </a:rPr>
              <a:t>Database Schema </a:t>
            </a:r>
            <a:endParaRPr/>
          </a:p>
        </p:txBody>
      </p:sp>
      <p:sp>
        <p:nvSpPr>
          <p:cNvPr descr="A colorful lines on a black background  Description automatically generated" id="157" name="Google Shape;157;p5"/>
          <p:cNvSpPr/>
          <p:nvPr/>
        </p:nvSpPr>
        <p:spPr>
          <a:xfrm>
            <a:off x="14164589" y="0"/>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90000"/>
            </a:blip>
            <a:stretch>
              <a:fillRect b="-190" l="0" r="0" t="0"/>
            </a:stretch>
          </a:blipFill>
          <a:ln>
            <a:noFill/>
          </a:ln>
        </p:spPr>
      </p:sp>
      <p:sp>
        <p:nvSpPr>
          <p:cNvPr descr="A colorful lines on a black background  Description automatically generated" id="158" name="Google Shape;158;p5"/>
          <p:cNvSpPr/>
          <p:nvPr/>
        </p:nvSpPr>
        <p:spPr>
          <a:xfrm rot="10800000">
            <a:off x="38" y="7941754"/>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42999"/>
            </a:blip>
            <a:stretch>
              <a:fillRect b="-190" l="0" r="0" t="0"/>
            </a:stretch>
          </a:blipFill>
          <a:ln>
            <a:noFill/>
          </a:ln>
        </p:spPr>
      </p:sp>
      <p:sp>
        <p:nvSpPr>
          <p:cNvPr id="159" name="Google Shape;159;p5"/>
          <p:cNvSpPr/>
          <p:nvPr/>
        </p:nvSpPr>
        <p:spPr>
          <a:xfrm>
            <a:off x="3342583" y="1731245"/>
            <a:ext cx="12006381" cy="8354179"/>
          </a:xfrm>
          <a:custGeom>
            <a:rect b="b" l="l" r="r" t="t"/>
            <a:pathLst>
              <a:path extrusionOk="0" h="8354179" w="12006381">
                <a:moveTo>
                  <a:pt x="0" y="0"/>
                </a:moveTo>
                <a:lnTo>
                  <a:pt x="12006381" y="0"/>
                </a:lnTo>
                <a:lnTo>
                  <a:pt x="12006381" y="8354179"/>
                </a:lnTo>
                <a:lnTo>
                  <a:pt x="0" y="8354179"/>
                </a:lnTo>
                <a:lnTo>
                  <a:pt x="0" y="0"/>
                </a:lnTo>
                <a:close/>
              </a:path>
            </a:pathLst>
          </a:custGeom>
          <a:blipFill rotWithShape="1">
            <a:blip r:embed="rId5">
              <a:alphaModFix/>
            </a:blip>
            <a:stretch>
              <a:fillRect b="-1827" l="0" r="0" t="-1827"/>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033"/>
        </a:solidFill>
      </p:bgPr>
    </p:bg>
    <p:spTree>
      <p:nvGrpSpPr>
        <p:cNvPr id="167" name="Shape 167"/>
        <p:cNvGrpSpPr/>
        <p:nvPr/>
      </p:nvGrpSpPr>
      <p:grpSpPr>
        <a:xfrm>
          <a:off x="0" y="0"/>
          <a:ext cx="0" cy="0"/>
          <a:chOff x="0" y="0"/>
          <a:chExt cx="0" cy="0"/>
        </a:xfrm>
      </p:grpSpPr>
      <p:sp>
        <p:nvSpPr>
          <p:cNvPr id="168" name="Google Shape;168;p6"/>
          <p:cNvSpPr/>
          <p:nvPr/>
        </p:nvSpPr>
        <p:spPr>
          <a:xfrm>
            <a:off x="342900" y="222685"/>
            <a:ext cx="2410334" cy="1205167"/>
          </a:xfrm>
          <a:custGeom>
            <a:rect b="b" l="l" r="r" t="t"/>
            <a:pathLst>
              <a:path extrusionOk="0" h="1152525" w="2305050">
                <a:moveTo>
                  <a:pt x="0" y="0"/>
                </a:moveTo>
                <a:lnTo>
                  <a:pt x="2305050" y="0"/>
                </a:lnTo>
                <a:lnTo>
                  <a:pt x="2305050" y="1152525"/>
                </a:lnTo>
                <a:lnTo>
                  <a:pt x="0" y="1152525"/>
                </a:lnTo>
                <a:lnTo>
                  <a:pt x="0" y="0"/>
                </a:lnTo>
                <a:close/>
              </a:path>
            </a:pathLst>
          </a:custGeom>
          <a:blipFill rotWithShape="1">
            <a:blip r:embed="rId3">
              <a:alphaModFix/>
            </a:blip>
            <a:stretch>
              <a:fillRect b="0" l="0" r="0" t="0"/>
            </a:stretch>
          </a:blipFill>
          <a:ln>
            <a:noFill/>
          </a:ln>
        </p:spPr>
      </p:sp>
      <p:sp>
        <p:nvSpPr>
          <p:cNvPr id="169" name="Google Shape;169;p6"/>
          <p:cNvSpPr txBox="1"/>
          <p:nvPr/>
        </p:nvSpPr>
        <p:spPr>
          <a:xfrm>
            <a:off x="5935112" y="852897"/>
            <a:ext cx="6417766" cy="8191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5400" u="none" cap="none" strike="noStrike">
                <a:solidFill>
                  <a:srgbClr val="FFFAC5"/>
                </a:solidFill>
                <a:latin typeface="Lora"/>
                <a:ea typeface="Lora"/>
                <a:cs typeface="Lora"/>
                <a:sym typeface="Lora"/>
              </a:rPr>
              <a:t>Analysis &amp; Insights </a:t>
            </a:r>
            <a:endParaRPr/>
          </a:p>
        </p:txBody>
      </p:sp>
      <p:sp>
        <p:nvSpPr>
          <p:cNvPr descr="A colorful lines on a black background  Description automatically generated" id="170" name="Google Shape;170;p6"/>
          <p:cNvSpPr/>
          <p:nvPr/>
        </p:nvSpPr>
        <p:spPr>
          <a:xfrm>
            <a:off x="14164589" y="0"/>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90000"/>
            </a:blip>
            <a:stretch>
              <a:fillRect b="-190" l="0" r="0" t="0"/>
            </a:stretch>
          </a:blipFill>
          <a:ln>
            <a:noFill/>
          </a:ln>
        </p:spPr>
      </p:sp>
      <p:sp>
        <p:nvSpPr>
          <p:cNvPr descr="A colorful lines on a black background  Description automatically generated" id="171" name="Google Shape;171;p6"/>
          <p:cNvSpPr/>
          <p:nvPr/>
        </p:nvSpPr>
        <p:spPr>
          <a:xfrm rot="10800000">
            <a:off x="30" y="7941754"/>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42999"/>
            </a:blip>
            <a:stretch>
              <a:fillRect b="-190" l="0" r="0" t="0"/>
            </a:stretch>
          </a:blipFill>
          <a:ln>
            <a:noFill/>
          </a:ln>
        </p:spPr>
      </p:sp>
      <p:sp>
        <p:nvSpPr>
          <p:cNvPr id="172" name="Google Shape;172;p6"/>
          <p:cNvSpPr txBox="1"/>
          <p:nvPr/>
        </p:nvSpPr>
        <p:spPr>
          <a:xfrm>
            <a:off x="522075" y="2295849"/>
            <a:ext cx="17243850" cy="111061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300" u="none" cap="none" strike="noStrike">
                <a:solidFill>
                  <a:srgbClr val="FFFAC5"/>
                </a:solidFill>
                <a:latin typeface="Lora"/>
                <a:ea typeface="Lora"/>
                <a:cs typeface="Lora"/>
                <a:sym typeface="Lora"/>
              </a:rPr>
              <a:t>Overall Team Performance Overview : </a:t>
            </a:r>
            <a:endParaRPr/>
          </a:p>
          <a:p>
            <a:pPr indent="0" lvl="0" marL="0" marR="0" rtl="0" algn="l">
              <a:lnSpc>
                <a:spcPct val="76363"/>
              </a:lnSpc>
              <a:spcBef>
                <a:spcPts val="0"/>
              </a:spcBef>
              <a:spcAft>
                <a:spcPts val="0"/>
              </a:spcAft>
              <a:buNone/>
            </a:pPr>
            <a:r>
              <a:t/>
            </a:r>
            <a:endParaRPr b="1" i="0" sz="3300" u="none" cap="none" strike="noStrike">
              <a:solidFill>
                <a:srgbClr val="FFFAC5"/>
              </a:solidFill>
              <a:latin typeface="Lora"/>
              <a:ea typeface="Lora"/>
              <a:cs typeface="Lora"/>
              <a:sym typeface="Lora"/>
            </a:endParaRPr>
          </a:p>
          <a:p>
            <a:pPr indent="-364490" lvl="1" marL="728979" marR="0" rtl="0" algn="just">
              <a:lnSpc>
                <a:spcPct val="180028"/>
              </a:lnSpc>
              <a:spcBef>
                <a:spcPts val="0"/>
              </a:spcBef>
              <a:spcAft>
                <a:spcPts val="0"/>
              </a:spcAft>
              <a:buClr>
                <a:srgbClr val="FFFAC5"/>
              </a:buClr>
              <a:buSzPts val="2799"/>
              <a:buFont typeface="Arial"/>
              <a:buChar char="•"/>
            </a:pPr>
            <a:r>
              <a:rPr b="0" i="0" lang="en-US" sz="2799" u="none" cap="none" strike="noStrike">
                <a:solidFill>
                  <a:srgbClr val="FFFAC5"/>
                </a:solidFill>
                <a:latin typeface="Lora"/>
                <a:ea typeface="Lora"/>
                <a:cs typeface="Lora"/>
                <a:sym typeface="Lora"/>
              </a:rPr>
              <a:t>RCB's performance varied across seasons in terms of wins, runs scored and wickets taken.</a:t>
            </a:r>
            <a:endParaRPr/>
          </a:p>
          <a:p>
            <a:pPr indent="-364490" lvl="1" marL="728979" marR="0" rtl="0" algn="just">
              <a:lnSpc>
                <a:spcPct val="160021"/>
              </a:lnSpc>
              <a:spcBef>
                <a:spcPts val="0"/>
              </a:spcBef>
              <a:spcAft>
                <a:spcPts val="0"/>
              </a:spcAft>
              <a:buClr>
                <a:srgbClr val="FFFAC5"/>
              </a:buClr>
              <a:buSzPts val="2799"/>
              <a:buFont typeface="Arial"/>
              <a:buChar char="•"/>
            </a:pPr>
            <a:r>
              <a:rPr b="0" i="0" lang="en-US" sz="2799" u="none" cap="none" strike="noStrike">
                <a:solidFill>
                  <a:srgbClr val="FFFAC5"/>
                </a:solidFill>
                <a:latin typeface="Lora"/>
                <a:ea typeface="Lora"/>
                <a:cs typeface="Lora"/>
                <a:sym typeface="Lora"/>
              </a:rPr>
              <a:t>2016 was RCB's strongest batting season, with the highest total runs and average runs per match. </a:t>
            </a:r>
            <a:endParaRPr/>
          </a:p>
          <a:p>
            <a:pPr indent="-364490" lvl="1" marL="728979" marR="0" rtl="0" algn="just">
              <a:lnSpc>
                <a:spcPct val="180028"/>
              </a:lnSpc>
              <a:spcBef>
                <a:spcPts val="0"/>
              </a:spcBef>
              <a:spcAft>
                <a:spcPts val="0"/>
              </a:spcAft>
              <a:buClr>
                <a:srgbClr val="FFFAC5"/>
              </a:buClr>
              <a:buSzPts val="2799"/>
              <a:buFont typeface="Arial"/>
              <a:buChar char="•"/>
            </a:pPr>
            <a:r>
              <a:rPr b="0" i="0" lang="en-US" sz="2799" u="none" cap="none" strike="noStrike">
                <a:solidFill>
                  <a:srgbClr val="FFFAC5"/>
                </a:solidFill>
                <a:latin typeface="Lora"/>
                <a:ea typeface="Lora"/>
                <a:cs typeface="Lora"/>
                <a:sym typeface="Lora"/>
              </a:rPr>
              <a:t>2014 was comparatively weaker, recording the lowest win percentage, total runs and average </a:t>
            </a:r>
            <a:endParaRPr/>
          </a:p>
          <a:p>
            <a:pPr indent="0" lvl="0" marL="0" marR="0" rtl="0" algn="just">
              <a:lnSpc>
                <a:spcPct val="180028"/>
              </a:lnSpc>
              <a:spcBef>
                <a:spcPts val="0"/>
              </a:spcBef>
              <a:spcAft>
                <a:spcPts val="0"/>
              </a:spcAft>
              <a:buNone/>
            </a:pPr>
            <a:r>
              <a:rPr b="0" i="0" lang="en-US" sz="2799" u="none" cap="none" strike="noStrike">
                <a:solidFill>
                  <a:srgbClr val="FFFAC5"/>
                </a:solidFill>
                <a:latin typeface="Lora"/>
                <a:ea typeface="Lora"/>
                <a:cs typeface="Lora"/>
                <a:sym typeface="Lora"/>
              </a:rPr>
              <a:t>        wickets per match.</a:t>
            </a:r>
            <a:endParaRPr/>
          </a:p>
          <a:p>
            <a:pPr indent="-364490" lvl="1" marL="728979" marR="0" rtl="0" algn="just">
              <a:lnSpc>
                <a:spcPct val="180028"/>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0" lvl="0" marL="0" marR="0" rtl="0" algn="just">
              <a:lnSpc>
                <a:spcPct val="180025"/>
              </a:lnSpc>
              <a:spcBef>
                <a:spcPts val="0"/>
              </a:spcBef>
              <a:spcAft>
                <a:spcPts val="0"/>
              </a:spcAft>
              <a:buNone/>
            </a:pPr>
            <a:r>
              <a:rPr b="1" i="0" lang="en-US" sz="3099" u="none" cap="none" strike="noStrike">
                <a:solidFill>
                  <a:srgbClr val="FFFAC5"/>
                </a:solidFill>
                <a:latin typeface="Lora"/>
                <a:ea typeface="Lora"/>
                <a:cs typeface="Lora"/>
                <a:sym typeface="Lora"/>
              </a:rPr>
              <a:t>Consistency  (Key Performers Across Seasons) : </a:t>
            </a:r>
            <a:endParaRPr/>
          </a:p>
          <a:p>
            <a:pPr indent="-353377" lvl="1" marL="706754" marR="0" rtl="0" algn="just">
              <a:lnSpc>
                <a:spcPct val="180028"/>
              </a:lnSpc>
              <a:spcBef>
                <a:spcPts val="0"/>
              </a:spcBef>
              <a:spcAft>
                <a:spcPts val="0"/>
              </a:spcAft>
              <a:buClr>
                <a:srgbClr val="FFFAC5"/>
              </a:buClr>
              <a:buSzPts val="2799"/>
              <a:buFont typeface="Arial"/>
              <a:buChar char="•"/>
            </a:pPr>
            <a:r>
              <a:rPr b="0" i="0" lang="en-US" sz="2799" u="none" cap="none" strike="noStrike">
                <a:solidFill>
                  <a:srgbClr val="FFFAC5"/>
                </a:solidFill>
                <a:latin typeface="Lora"/>
                <a:ea typeface="Lora"/>
                <a:cs typeface="Lora"/>
                <a:sym typeface="Lora"/>
              </a:rPr>
              <a:t>Batting strength has not always translated into consistent match results.</a:t>
            </a:r>
            <a:endParaRPr/>
          </a:p>
          <a:p>
            <a:pPr indent="-353288" lvl="1" marL="706577" marR="0" rtl="0" algn="just">
              <a:lnSpc>
                <a:spcPct val="180028"/>
              </a:lnSpc>
              <a:spcBef>
                <a:spcPts val="0"/>
              </a:spcBef>
              <a:spcAft>
                <a:spcPts val="0"/>
              </a:spcAft>
              <a:buClr>
                <a:srgbClr val="FFFAC5"/>
              </a:buClr>
              <a:buSzPts val="2799"/>
              <a:buFont typeface="Arial"/>
              <a:buChar char="•"/>
            </a:pPr>
            <a:r>
              <a:rPr b="0" i="0" lang="en-US" sz="2799" u="none" cap="none" strike="noStrike">
                <a:solidFill>
                  <a:srgbClr val="FFFAC5"/>
                </a:solidFill>
                <a:latin typeface="Lora"/>
                <a:ea typeface="Lora"/>
                <a:cs typeface="Lora"/>
                <a:sym typeface="Lora"/>
              </a:rPr>
              <a:t>Strong player contributions and balanced batting-bowling performance are important </a:t>
            </a:r>
            <a:endParaRPr/>
          </a:p>
          <a:p>
            <a:pPr indent="0" lvl="0" marL="0" marR="0" rtl="0" algn="just">
              <a:lnSpc>
                <a:spcPct val="180028"/>
              </a:lnSpc>
              <a:spcBef>
                <a:spcPts val="0"/>
              </a:spcBef>
              <a:spcAft>
                <a:spcPts val="0"/>
              </a:spcAft>
              <a:buNone/>
            </a:pPr>
            <a:r>
              <a:rPr b="0" i="0" lang="en-US" sz="2799" u="none" cap="none" strike="noStrike">
                <a:solidFill>
                  <a:srgbClr val="FFFAC5"/>
                </a:solidFill>
                <a:latin typeface="Lora"/>
                <a:ea typeface="Lora"/>
                <a:cs typeface="Lora"/>
                <a:sym typeface="Lora"/>
              </a:rPr>
              <a:t>       for sustained success.</a:t>
            </a:r>
            <a:endParaRPr/>
          </a:p>
          <a:p>
            <a:pPr indent="-352723" lvl="1" marL="705446" marR="0" rtl="0" algn="just">
              <a:lnSpc>
                <a:spcPct val="180028"/>
              </a:lnSpc>
              <a:spcBef>
                <a:spcPts val="0"/>
              </a:spcBef>
              <a:spcAft>
                <a:spcPts val="0"/>
              </a:spcAft>
              <a:buClr>
                <a:srgbClr val="FFFAC5"/>
              </a:buClr>
              <a:buSzPts val="2799"/>
              <a:buFont typeface="Arial"/>
              <a:buChar char="•"/>
            </a:pPr>
            <a:r>
              <a:rPr b="0" i="0" lang="en-US" sz="2799" u="none" cap="none" strike="noStrike">
                <a:solidFill>
                  <a:srgbClr val="FFFAC5"/>
                </a:solidFill>
                <a:latin typeface="Lora"/>
                <a:ea typeface="Lora"/>
                <a:cs typeface="Lora"/>
                <a:sym typeface="Lora"/>
              </a:rPr>
              <a:t>Season-wise KPIs help identify performance gaps and guide better team strategy.</a:t>
            </a:r>
            <a:endParaRPr/>
          </a:p>
          <a:p>
            <a:pPr indent="-264542" lvl="1" marL="529085" marR="0" rtl="0" algn="just">
              <a:lnSpc>
                <a:spcPct val="135048"/>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264542" lvl="1" marL="529085" marR="0" rtl="0" algn="l">
              <a:lnSpc>
                <a:spcPct val="90032"/>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264542" lvl="1" marL="529085" marR="0" rtl="0" algn="l">
              <a:lnSpc>
                <a:spcPct val="90032"/>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264542" lvl="1" marL="529085" marR="0" rtl="0" algn="ctr">
              <a:lnSpc>
                <a:spcPct val="90032"/>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264542" lvl="1" marL="529085" marR="0" rtl="0" algn="ctr">
              <a:lnSpc>
                <a:spcPct val="90032"/>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264542" lvl="1" marL="529085" marR="0" rtl="0" algn="ctr">
              <a:lnSpc>
                <a:spcPct val="90032"/>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264542" lvl="1" marL="529085" marR="0" rtl="0" algn="ctr">
              <a:lnSpc>
                <a:spcPct val="90032"/>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264542" lvl="1" marL="529085" marR="0" rtl="0" algn="ctr">
              <a:lnSpc>
                <a:spcPct val="90032"/>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264542" lvl="1" marL="529085" marR="0" rtl="0" algn="ctr">
              <a:lnSpc>
                <a:spcPct val="90032"/>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264542" lvl="1" marL="529085" marR="0" rtl="0" algn="ctr">
              <a:lnSpc>
                <a:spcPct val="90032"/>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264542" lvl="1" marL="529085" marR="0" rtl="0" algn="ctr">
              <a:lnSpc>
                <a:spcPct val="90032"/>
              </a:lnSpc>
              <a:spcBef>
                <a:spcPts val="0"/>
              </a:spcBef>
              <a:spcAft>
                <a:spcPts val="0"/>
              </a:spcAft>
              <a:buNone/>
            </a:pPr>
            <a:r>
              <a:t/>
            </a:r>
            <a:endParaRPr b="0" i="0" sz="2799" u="none" cap="none" strike="noStrike">
              <a:solidFill>
                <a:srgbClr val="FFFAC5"/>
              </a:solidFill>
              <a:latin typeface="Lora"/>
              <a:ea typeface="Lora"/>
              <a:cs typeface="Lora"/>
              <a:sym typeface="Lora"/>
            </a:endParaRPr>
          </a:p>
          <a:p>
            <a:pPr indent="-264542" lvl="1" marL="529085" marR="0" rtl="0" algn="ctr">
              <a:lnSpc>
                <a:spcPct val="90032"/>
              </a:lnSpc>
              <a:spcBef>
                <a:spcPts val="0"/>
              </a:spcBef>
              <a:spcAft>
                <a:spcPts val="0"/>
              </a:spcAft>
              <a:buNone/>
            </a:pPr>
            <a:r>
              <a:t/>
            </a:r>
            <a:endParaRPr b="0" i="0" sz="2799" u="none" cap="none" strike="noStrike">
              <a:solidFill>
                <a:srgbClr val="FFFAC5"/>
              </a:solidFill>
              <a:latin typeface="Lora"/>
              <a:ea typeface="Lora"/>
              <a:cs typeface="Lora"/>
              <a:sym typeface="L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033"/>
        </a:solidFill>
      </p:bgPr>
    </p:bg>
    <p:spTree>
      <p:nvGrpSpPr>
        <p:cNvPr id="180" name="Shape 180"/>
        <p:cNvGrpSpPr/>
        <p:nvPr/>
      </p:nvGrpSpPr>
      <p:grpSpPr>
        <a:xfrm>
          <a:off x="0" y="0"/>
          <a:ext cx="0" cy="0"/>
          <a:chOff x="0" y="0"/>
          <a:chExt cx="0" cy="0"/>
        </a:xfrm>
      </p:grpSpPr>
      <p:sp>
        <p:nvSpPr>
          <p:cNvPr id="181" name="Google Shape;181;p7"/>
          <p:cNvSpPr/>
          <p:nvPr/>
        </p:nvSpPr>
        <p:spPr>
          <a:xfrm>
            <a:off x="342900" y="222685"/>
            <a:ext cx="2419301" cy="1209651"/>
          </a:xfrm>
          <a:custGeom>
            <a:rect b="b" l="l" r="r" t="t"/>
            <a:pathLst>
              <a:path extrusionOk="0" h="1152525" w="2305050">
                <a:moveTo>
                  <a:pt x="0" y="0"/>
                </a:moveTo>
                <a:lnTo>
                  <a:pt x="2305050" y="0"/>
                </a:lnTo>
                <a:lnTo>
                  <a:pt x="2305050" y="1152525"/>
                </a:lnTo>
                <a:lnTo>
                  <a:pt x="0" y="1152525"/>
                </a:lnTo>
                <a:lnTo>
                  <a:pt x="0" y="0"/>
                </a:lnTo>
                <a:close/>
              </a:path>
            </a:pathLst>
          </a:custGeom>
          <a:blipFill rotWithShape="1">
            <a:blip r:embed="rId3">
              <a:alphaModFix/>
            </a:blip>
            <a:stretch>
              <a:fillRect b="0" l="0" r="0" t="0"/>
            </a:stretch>
          </a:blipFill>
          <a:ln>
            <a:noFill/>
          </a:ln>
        </p:spPr>
      </p:sp>
      <p:sp>
        <p:nvSpPr>
          <p:cNvPr id="182" name="Google Shape;182;p7"/>
          <p:cNvSpPr txBox="1"/>
          <p:nvPr/>
        </p:nvSpPr>
        <p:spPr>
          <a:xfrm>
            <a:off x="5935112" y="852897"/>
            <a:ext cx="6417766" cy="8191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5400" u="none" cap="none" strike="noStrike">
                <a:solidFill>
                  <a:srgbClr val="FFFAC5"/>
                </a:solidFill>
                <a:latin typeface="Lora"/>
                <a:ea typeface="Lora"/>
                <a:cs typeface="Lora"/>
                <a:sym typeface="Lora"/>
              </a:rPr>
              <a:t>Analysis &amp; Insights </a:t>
            </a:r>
            <a:endParaRPr/>
          </a:p>
        </p:txBody>
      </p:sp>
      <p:sp>
        <p:nvSpPr>
          <p:cNvPr descr="A colorful lines on a black background  Description automatically generated" id="183" name="Google Shape;183;p7"/>
          <p:cNvSpPr/>
          <p:nvPr/>
        </p:nvSpPr>
        <p:spPr>
          <a:xfrm>
            <a:off x="14164589" y="0"/>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90000"/>
            </a:blip>
            <a:stretch>
              <a:fillRect b="-190" l="0" r="0" t="0"/>
            </a:stretch>
          </a:blipFill>
          <a:ln>
            <a:noFill/>
          </a:ln>
        </p:spPr>
      </p:sp>
      <p:sp>
        <p:nvSpPr>
          <p:cNvPr descr="A colorful lines on a black background  Description automatically generated" id="184" name="Google Shape;184;p7"/>
          <p:cNvSpPr/>
          <p:nvPr/>
        </p:nvSpPr>
        <p:spPr>
          <a:xfrm rot="10800000">
            <a:off x="30" y="7941754"/>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42999"/>
            </a:blip>
            <a:stretch>
              <a:fillRect b="-190" l="0" r="0" t="0"/>
            </a:stretch>
          </a:blipFill>
          <a:ln>
            <a:noFill/>
          </a:ln>
        </p:spPr>
      </p:sp>
      <p:sp>
        <p:nvSpPr>
          <p:cNvPr id="185" name="Google Shape;185;p7"/>
          <p:cNvSpPr/>
          <p:nvPr/>
        </p:nvSpPr>
        <p:spPr>
          <a:xfrm>
            <a:off x="1207294" y="3980619"/>
            <a:ext cx="6458026" cy="5823169"/>
          </a:xfrm>
          <a:custGeom>
            <a:rect b="b" l="l" r="r" t="t"/>
            <a:pathLst>
              <a:path extrusionOk="0" h="5823169" w="6458026">
                <a:moveTo>
                  <a:pt x="0" y="0"/>
                </a:moveTo>
                <a:lnTo>
                  <a:pt x="6458025" y="0"/>
                </a:lnTo>
                <a:lnTo>
                  <a:pt x="6458025" y="5823169"/>
                </a:lnTo>
                <a:lnTo>
                  <a:pt x="0" y="5823169"/>
                </a:lnTo>
                <a:lnTo>
                  <a:pt x="0" y="0"/>
                </a:lnTo>
                <a:close/>
              </a:path>
            </a:pathLst>
          </a:custGeom>
          <a:blipFill rotWithShape="1">
            <a:blip r:embed="rId5">
              <a:alphaModFix/>
            </a:blip>
            <a:stretch>
              <a:fillRect b="0" l="0" r="0" t="0"/>
            </a:stretch>
          </a:blipFill>
          <a:ln>
            <a:noFill/>
          </a:ln>
        </p:spPr>
      </p:sp>
      <p:sp>
        <p:nvSpPr>
          <p:cNvPr id="186" name="Google Shape;186;p7"/>
          <p:cNvSpPr/>
          <p:nvPr/>
        </p:nvSpPr>
        <p:spPr>
          <a:xfrm>
            <a:off x="9737217" y="3980619"/>
            <a:ext cx="6833125" cy="5832094"/>
          </a:xfrm>
          <a:custGeom>
            <a:rect b="b" l="l" r="r" t="t"/>
            <a:pathLst>
              <a:path extrusionOk="0" h="5832094" w="6833125">
                <a:moveTo>
                  <a:pt x="0" y="0"/>
                </a:moveTo>
                <a:lnTo>
                  <a:pt x="6833125" y="0"/>
                </a:lnTo>
                <a:lnTo>
                  <a:pt x="6833125" y="5832094"/>
                </a:lnTo>
                <a:lnTo>
                  <a:pt x="0" y="5832094"/>
                </a:lnTo>
                <a:lnTo>
                  <a:pt x="0" y="0"/>
                </a:lnTo>
                <a:close/>
              </a:path>
            </a:pathLst>
          </a:custGeom>
          <a:blipFill rotWithShape="1">
            <a:blip r:embed="rId6">
              <a:alphaModFix/>
            </a:blip>
            <a:stretch>
              <a:fillRect b="0" l="0" r="0" t="0"/>
            </a:stretch>
          </a:blipFill>
          <a:ln>
            <a:noFill/>
          </a:ln>
        </p:spPr>
      </p:sp>
      <p:sp>
        <p:nvSpPr>
          <p:cNvPr id="187" name="Google Shape;187;p7"/>
          <p:cNvSpPr txBox="1"/>
          <p:nvPr/>
        </p:nvSpPr>
        <p:spPr>
          <a:xfrm>
            <a:off x="1599631" y="2576941"/>
            <a:ext cx="5673351" cy="1181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3900" u="none" cap="none" strike="noStrike">
                <a:solidFill>
                  <a:srgbClr val="FFFAC5"/>
                </a:solidFill>
                <a:latin typeface="Lora"/>
                <a:ea typeface="Lora"/>
                <a:cs typeface="Lora"/>
                <a:sym typeface="Lora"/>
              </a:rPr>
              <a:t>Top Batsmen – Average Runs</a:t>
            </a:r>
            <a:endParaRPr/>
          </a:p>
        </p:txBody>
      </p:sp>
      <p:sp>
        <p:nvSpPr>
          <p:cNvPr id="188" name="Google Shape;188;p7"/>
          <p:cNvSpPr txBox="1"/>
          <p:nvPr/>
        </p:nvSpPr>
        <p:spPr>
          <a:xfrm>
            <a:off x="10118345" y="2576941"/>
            <a:ext cx="5726818" cy="1181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3900" u="none" cap="none" strike="noStrike">
                <a:solidFill>
                  <a:srgbClr val="FFFAC5"/>
                </a:solidFill>
                <a:latin typeface="Lora"/>
                <a:ea typeface="Lora"/>
                <a:cs typeface="Lora"/>
                <a:sym typeface="Lora"/>
              </a:rPr>
              <a:t>Top Bowlers – Average Wickets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033"/>
        </a:solidFill>
      </p:bgPr>
    </p:bg>
    <p:spTree>
      <p:nvGrpSpPr>
        <p:cNvPr id="196" name="Shape 196"/>
        <p:cNvGrpSpPr/>
        <p:nvPr/>
      </p:nvGrpSpPr>
      <p:grpSpPr>
        <a:xfrm>
          <a:off x="0" y="0"/>
          <a:ext cx="0" cy="0"/>
          <a:chOff x="0" y="0"/>
          <a:chExt cx="0" cy="0"/>
        </a:xfrm>
      </p:grpSpPr>
      <p:sp>
        <p:nvSpPr>
          <p:cNvPr id="197" name="Google Shape;197;p8"/>
          <p:cNvSpPr/>
          <p:nvPr/>
        </p:nvSpPr>
        <p:spPr>
          <a:xfrm>
            <a:off x="342900" y="222685"/>
            <a:ext cx="2464140" cy="1232070"/>
          </a:xfrm>
          <a:custGeom>
            <a:rect b="b" l="l" r="r" t="t"/>
            <a:pathLst>
              <a:path extrusionOk="0" h="1152525" w="2305050">
                <a:moveTo>
                  <a:pt x="0" y="0"/>
                </a:moveTo>
                <a:lnTo>
                  <a:pt x="2305050" y="0"/>
                </a:lnTo>
                <a:lnTo>
                  <a:pt x="2305050" y="1152525"/>
                </a:lnTo>
                <a:lnTo>
                  <a:pt x="0" y="1152525"/>
                </a:lnTo>
                <a:lnTo>
                  <a:pt x="0" y="0"/>
                </a:lnTo>
                <a:close/>
              </a:path>
            </a:pathLst>
          </a:custGeom>
          <a:blipFill rotWithShape="1">
            <a:blip r:embed="rId3">
              <a:alphaModFix/>
            </a:blip>
            <a:stretch>
              <a:fillRect b="0" l="0" r="0" t="0"/>
            </a:stretch>
          </a:blipFill>
          <a:ln>
            <a:noFill/>
          </a:ln>
        </p:spPr>
      </p:sp>
      <p:sp>
        <p:nvSpPr>
          <p:cNvPr id="198" name="Google Shape;198;p8"/>
          <p:cNvSpPr txBox="1"/>
          <p:nvPr/>
        </p:nvSpPr>
        <p:spPr>
          <a:xfrm>
            <a:off x="5935112" y="852897"/>
            <a:ext cx="6417766" cy="8191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5400" u="none" cap="none" strike="noStrike">
                <a:solidFill>
                  <a:srgbClr val="FFFAC5"/>
                </a:solidFill>
                <a:latin typeface="Lora"/>
                <a:ea typeface="Lora"/>
                <a:cs typeface="Lora"/>
                <a:sym typeface="Lora"/>
              </a:rPr>
              <a:t>Analysis &amp; Insights </a:t>
            </a:r>
            <a:endParaRPr/>
          </a:p>
        </p:txBody>
      </p:sp>
      <p:sp>
        <p:nvSpPr>
          <p:cNvPr descr="A colorful lines on a black background  Description automatically generated" id="199" name="Google Shape;199;p8"/>
          <p:cNvSpPr/>
          <p:nvPr/>
        </p:nvSpPr>
        <p:spPr>
          <a:xfrm>
            <a:off x="14164589" y="0"/>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90000"/>
            </a:blip>
            <a:stretch>
              <a:fillRect b="-190" l="0" r="0" t="0"/>
            </a:stretch>
          </a:blipFill>
          <a:ln>
            <a:noFill/>
          </a:ln>
        </p:spPr>
      </p:sp>
      <p:sp>
        <p:nvSpPr>
          <p:cNvPr descr="A colorful lines on a black background  Description automatically generated" id="200" name="Google Shape;200;p8"/>
          <p:cNvSpPr/>
          <p:nvPr/>
        </p:nvSpPr>
        <p:spPr>
          <a:xfrm rot="10800000">
            <a:off x="30" y="7941754"/>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42999"/>
            </a:blip>
            <a:stretch>
              <a:fillRect b="-190" l="0" r="0" t="0"/>
            </a:stretch>
          </a:blipFill>
          <a:ln>
            <a:noFill/>
          </a:ln>
        </p:spPr>
      </p:sp>
      <p:sp>
        <p:nvSpPr>
          <p:cNvPr id="201" name="Google Shape;201;p8"/>
          <p:cNvSpPr txBox="1"/>
          <p:nvPr/>
        </p:nvSpPr>
        <p:spPr>
          <a:xfrm>
            <a:off x="522075" y="2295849"/>
            <a:ext cx="17243850" cy="7858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300" u="none" cap="none" strike="noStrike">
                <a:solidFill>
                  <a:srgbClr val="FFFAC5"/>
                </a:solidFill>
                <a:latin typeface="Lora"/>
                <a:ea typeface="Lora"/>
                <a:cs typeface="Lora"/>
                <a:sym typeface="Lora"/>
              </a:rPr>
              <a:t>Venue-Specific Performance</a:t>
            </a:r>
            <a:endParaRPr/>
          </a:p>
          <a:p>
            <a:pPr indent="0" lvl="0" marL="0" marR="0" rtl="0" algn="l">
              <a:lnSpc>
                <a:spcPct val="76363"/>
              </a:lnSpc>
              <a:spcBef>
                <a:spcPts val="0"/>
              </a:spcBef>
              <a:spcAft>
                <a:spcPts val="0"/>
              </a:spcAft>
              <a:buNone/>
            </a:pPr>
            <a:r>
              <a:t/>
            </a:r>
            <a:endParaRPr b="1" i="0" sz="3300" u="none" cap="none" strike="noStrike">
              <a:solidFill>
                <a:srgbClr val="FFFAC5"/>
              </a:solidFill>
              <a:latin typeface="Lora"/>
              <a:ea typeface="Lora"/>
              <a:cs typeface="Lora"/>
              <a:sym typeface="Lora"/>
            </a:endParaRPr>
          </a:p>
          <a:p>
            <a:pPr indent="-288608" lvl="1" marL="577215" marR="0" rtl="0" algn="l">
              <a:lnSpc>
                <a:spcPct val="180000"/>
              </a:lnSpc>
              <a:spcBef>
                <a:spcPts val="0"/>
              </a:spcBef>
              <a:spcAft>
                <a:spcPts val="0"/>
              </a:spcAft>
              <a:buClr>
                <a:srgbClr val="FFFAC5"/>
              </a:buClr>
              <a:buSzPts val="2400"/>
              <a:buFont typeface="Arial"/>
              <a:buChar char="•"/>
            </a:pPr>
            <a:r>
              <a:rPr b="1" i="0" lang="en-US" sz="2400" u="none" cap="none" strike="noStrike">
                <a:solidFill>
                  <a:srgbClr val="FFFAC5"/>
                </a:solidFill>
                <a:latin typeface="Lora"/>
                <a:ea typeface="Lora"/>
                <a:cs typeface="Lora"/>
                <a:sym typeface="Lora"/>
              </a:rPr>
              <a:t>Player performance can vary significantly across different venues.</a:t>
            </a:r>
            <a:endParaRPr/>
          </a:p>
          <a:p>
            <a:pPr indent="-288608" lvl="1" marL="577215" marR="0" rtl="0" algn="l">
              <a:lnSpc>
                <a:spcPct val="180000"/>
              </a:lnSpc>
              <a:spcBef>
                <a:spcPts val="0"/>
              </a:spcBef>
              <a:spcAft>
                <a:spcPts val="0"/>
              </a:spcAft>
              <a:buClr>
                <a:srgbClr val="FFFAC5"/>
              </a:buClr>
              <a:buSzPts val="2400"/>
              <a:buFont typeface="Arial"/>
              <a:buChar char="•"/>
            </a:pPr>
            <a:r>
              <a:rPr b="1" i="0" lang="en-US" sz="2400" u="none" cap="none" strike="noStrike">
                <a:solidFill>
                  <a:srgbClr val="FFFAC5"/>
                </a:solidFill>
                <a:latin typeface="Lora"/>
                <a:ea typeface="Lora"/>
                <a:cs typeface="Lora"/>
                <a:sym typeface="Lora"/>
              </a:rPr>
              <a:t>Batting performance is compared using average runs per match, while bowling performance is compared using average wickets per match.</a:t>
            </a:r>
            <a:endParaRPr/>
          </a:p>
          <a:p>
            <a:pPr indent="-288608" lvl="1" marL="577215" marR="0" rtl="0" algn="l">
              <a:lnSpc>
                <a:spcPct val="180000"/>
              </a:lnSpc>
              <a:spcBef>
                <a:spcPts val="0"/>
              </a:spcBef>
              <a:spcAft>
                <a:spcPts val="0"/>
              </a:spcAft>
              <a:buClr>
                <a:srgbClr val="FFFAC5"/>
              </a:buClr>
              <a:buSzPts val="2400"/>
              <a:buFont typeface="Arial"/>
              <a:buChar char="•"/>
            </a:pPr>
            <a:r>
              <a:rPr b="1" i="0" lang="en-US" sz="2400" u="none" cap="none" strike="noStrike">
                <a:solidFill>
                  <a:srgbClr val="FFFAC5"/>
                </a:solidFill>
                <a:latin typeface="Lora"/>
                <a:ea typeface="Lora"/>
                <a:cs typeface="Lora"/>
                <a:sym typeface="Lora"/>
              </a:rPr>
              <a:t>These patterns can support venue-specific player selection and match planning.</a:t>
            </a:r>
            <a:endParaRPr/>
          </a:p>
          <a:p>
            <a:pPr indent="-252532" lvl="1" marL="505063" marR="0" rtl="0" algn="just">
              <a:lnSpc>
                <a:spcPct val="157500"/>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52532" lvl="1" marL="505063" marR="0" rtl="0" algn="just">
              <a:lnSpc>
                <a:spcPct val="157500"/>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52532" lvl="1" marL="505063" marR="0" rtl="0" algn="just">
              <a:lnSpc>
                <a:spcPct val="157500"/>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52532" lvl="1" marL="505063" marR="0" rtl="0" algn="l">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52532" lvl="1" marL="505063" marR="0" rtl="0" algn="l">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52532" lvl="1" marL="505063"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52532" lvl="1" marL="505063"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52532" lvl="1" marL="505063"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52532" lvl="1" marL="505063"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52532" lvl="1" marL="505063"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52532" lvl="1" marL="505063"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52532" lvl="1" marL="505063"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52532" lvl="1" marL="505063"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52532" lvl="1" marL="505063"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p:txBody>
      </p:sp>
      <p:sp>
        <p:nvSpPr>
          <p:cNvPr id="202" name="Google Shape;202;p8"/>
          <p:cNvSpPr/>
          <p:nvPr/>
        </p:nvSpPr>
        <p:spPr>
          <a:xfrm>
            <a:off x="2061702" y="5601870"/>
            <a:ext cx="13084230" cy="4105177"/>
          </a:xfrm>
          <a:custGeom>
            <a:rect b="b" l="l" r="r" t="t"/>
            <a:pathLst>
              <a:path extrusionOk="0" h="4105177" w="13084230">
                <a:moveTo>
                  <a:pt x="0" y="0"/>
                </a:moveTo>
                <a:lnTo>
                  <a:pt x="13084230" y="0"/>
                </a:lnTo>
                <a:lnTo>
                  <a:pt x="13084230" y="4105178"/>
                </a:lnTo>
                <a:lnTo>
                  <a:pt x="0" y="4105178"/>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033"/>
        </a:solidFill>
      </p:bgPr>
    </p:bg>
    <p:spTree>
      <p:nvGrpSpPr>
        <p:cNvPr id="210" name="Shape 210"/>
        <p:cNvGrpSpPr/>
        <p:nvPr/>
      </p:nvGrpSpPr>
      <p:grpSpPr>
        <a:xfrm>
          <a:off x="0" y="0"/>
          <a:ext cx="0" cy="0"/>
          <a:chOff x="0" y="0"/>
          <a:chExt cx="0" cy="0"/>
        </a:xfrm>
      </p:grpSpPr>
      <p:sp>
        <p:nvSpPr>
          <p:cNvPr id="211" name="Google Shape;211;p9"/>
          <p:cNvSpPr/>
          <p:nvPr/>
        </p:nvSpPr>
        <p:spPr>
          <a:xfrm>
            <a:off x="342900" y="222685"/>
            <a:ext cx="2455172" cy="1227586"/>
          </a:xfrm>
          <a:custGeom>
            <a:rect b="b" l="l" r="r" t="t"/>
            <a:pathLst>
              <a:path extrusionOk="0" h="1152525" w="2305050">
                <a:moveTo>
                  <a:pt x="0" y="0"/>
                </a:moveTo>
                <a:lnTo>
                  <a:pt x="2305050" y="0"/>
                </a:lnTo>
                <a:lnTo>
                  <a:pt x="2305050" y="1152525"/>
                </a:lnTo>
                <a:lnTo>
                  <a:pt x="0" y="1152525"/>
                </a:lnTo>
                <a:lnTo>
                  <a:pt x="0" y="0"/>
                </a:lnTo>
                <a:close/>
              </a:path>
            </a:pathLst>
          </a:custGeom>
          <a:blipFill rotWithShape="1">
            <a:blip r:embed="rId3">
              <a:alphaModFix/>
            </a:blip>
            <a:stretch>
              <a:fillRect b="0" l="0" r="0" t="0"/>
            </a:stretch>
          </a:blipFill>
          <a:ln>
            <a:noFill/>
          </a:ln>
        </p:spPr>
      </p:sp>
      <p:sp>
        <p:nvSpPr>
          <p:cNvPr id="212" name="Google Shape;212;p9"/>
          <p:cNvSpPr txBox="1"/>
          <p:nvPr/>
        </p:nvSpPr>
        <p:spPr>
          <a:xfrm>
            <a:off x="5935112" y="852897"/>
            <a:ext cx="6417766" cy="8191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5400" u="none" cap="none" strike="noStrike">
                <a:solidFill>
                  <a:srgbClr val="FFFAC5"/>
                </a:solidFill>
                <a:latin typeface="Lora"/>
                <a:ea typeface="Lora"/>
                <a:cs typeface="Lora"/>
                <a:sym typeface="Lora"/>
              </a:rPr>
              <a:t>Analysis &amp; Insights </a:t>
            </a:r>
            <a:endParaRPr/>
          </a:p>
        </p:txBody>
      </p:sp>
      <p:sp>
        <p:nvSpPr>
          <p:cNvPr descr="A colorful lines on a black background  Description automatically generated" id="213" name="Google Shape;213;p9"/>
          <p:cNvSpPr/>
          <p:nvPr/>
        </p:nvSpPr>
        <p:spPr>
          <a:xfrm>
            <a:off x="14164589" y="0"/>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90000"/>
            </a:blip>
            <a:stretch>
              <a:fillRect b="-190" l="0" r="0" t="0"/>
            </a:stretch>
          </a:blipFill>
          <a:ln>
            <a:noFill/>
          </a:ln>
        </p:spPr>
      </p:sp>
      <p:sp>
        <p:nvSpPr>
          <p:cNvPr descr="A colorful lines on a black background  Description automatically generated" id="214" name="Google Shape;214;p9"/>
          <p:cNvSpPr/>
          <p:nvPr/>
        </p:nvSpPr>
        <p:spPr>
          <a:xfrm rot="10800000">
            <a:off x="30" y="7941754"/>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42999"/>
            </a:blip>
            <a:stretch>
              <a:fillRect b="-190" l="0" r="0" t="0"/>
            </a:stretch>
          </a:blipFill>
          <a:ln>
            <a:noFill/>
          </a:ln>
        </p:spPr>
      </p:sp>
      <p:sp>
        <p:nvSpPr>
          <p:cNvPr id="215" name="Google Shape;215;p9"/>
          <p:cNvSpPr txBox="1"/>
          <p:nvPr/>
        </p:nvSpPr>
        <p:spPr>
          <a:xfrm>
            <a:off x="342900" y="2049237"/>
            <a:ext cx="17243850" cy="103727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300" u="none" cap="none" strike="noStrike">
                <a:solidFill>
                  <a:srgbClr val="FFFAC5"/>
                </a:solidFill>
                <a:latin typeface="Lora"/>
                <a:ea typeface="Lora"/>
                <a:cs typeface="Lora"/>
                <a:sym typeface="Lora"/>
              </a:rPr>
              <a:t>All-Rounder Impact</a:t>
            </a:r>
            <a:endParaRPr/>
          </a:p>
          <a:p>
            <a:pPr indent="0" lvl="0" marL="0" marR="0" rtl="0" algn="l">
              <a:lnSpc>
                <a:spcPct val="76363"/>
              </a:lnSpc>
              <a:spcBef>
                <a:spcPts val="0"/>
              </a:spcBef>
              <a:spcAft>
                <a:spcPts val="0"/>
              </a:spcAft>
              <a:buNone/>
            </a:pPr>
            <a:r>
              <a:t/>
            </a:r>
            <a:endParaRPr b="1" i="0" sz="3300" u="none" cap="none" strike="noStrike">
              <a:solidFill>
                <a:srgbClr val="FFFAC5"/>
              </a:solidFill>
              <a:latin typeface="Lora"/>
              <a:ea typeface="Lora"/>
              <a:cs typeface="Lora"/>
              <a:sym typeface="Lora"/>
            </a:endParaRPr>
          </a:p>
          <a:p>
            <a:pPr indent="-312420" lvl="1" marL="624840" marR="0" rtl="0" algn="l">
              <a:lnSpc>
                <a:spcPct val="180000"/>
              </a:lnSpc>
              <a:spcBef>
                <a:spcPts val="0"/>
              </a:spcBef>
              <a:spcAft>
                <a:spcPts val="0"/>
              </a:spcAft>
              <a:buClr>
                <a:srgbClr val="FFFAC5"/>
              </a:buClr>
              <a:buSzPts val="2400"/>
              <a:buFont typeface="Arial"/>
              <a:buChar char="•"/>
            </a:pPr>
            <a:r>
              <a:rPr b="1" i="0" lang="en-US" sz="2400" u="none" cap="none" strike="noStrike">
                <a:solidFill>
                  <a:srgbClr val="FFFAC5"/>
                </a:solidFill>
                <a:latin typeface="Lora"/>
                <a:ea typeface="Lora"/>
                <a:cs typeface="Lora"/>
                <a:sym typeface="Lora"/>
              </a:rPr>
              <a:t>Identifies players performing above the overall </a:t>
            </a:r>
            <a:endParaRPr/>
          </a:p>
          <a:p>
            <a:pPr indent="0" lvl="0" marL="0" marR="0" rtl="0" algn="l">
              <a:lnSpc>
                <a:spcPct val="180000"/>
              </a:lnSpc>
              <a:spcBef>
                <a:spcPts val="0"/>
              </a:spcBef>
              <a:spcAft>
                <a:spcPts val="0"/>
              </a:spcAft>
              <a:buNone/>
            </a:pPr>
            <a:r>
              <a:rPr b="1" i="0" lang="en-US" sz="2400" u="none" cap="none" strike="noStrike">
                <a:solidFill>
                  <a:srgbClr val="FFFAC5"/>
                </a:solidFill>
                <a:latin typeface="Lora"/>
                <a:ea typeface="Lora"/>
                <a:cs typeface="Lora"/>
                <a:sym typeface="Lora"/>
              </a:rPr>
              <a:t>       average in both batting and bowling.</a:t>
            </a:r>
            <a:endParaRPr/>
          </a:p>
          <a:p>
            <a:pPr indent="-273368" lvl="1" marL="546735" marR="0" rtl="0" algn="l">
              <a:lnSpc>
                <a:spcPct val="157500"/>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312420" lvl="1" marL="624840" marR="0" rtl="0" algn="l">
              <a:lnSpc>
                <a:spcPct val="180000"/>
              </a:lnSpc>
              <a:spcBef>
                <a:spcPts val="0"/>
              </a:spcBef>
              <a:spcAft>
                <a:spcPts val="0"/>
              </a:spcAft>
              <a:buClr>
                <a:srgbClr val="FFFAC5"/>
              </a:buClr>
              <a:buSzPts val="2400"/>
              <a:buFont typeface="Arial"/>
              <a:buChar char="•"/>
            </a:pPr>
            <a:r>
              <a:rPr b="1" i="0" lang="en-US" sz="2400" u="none" cap="none" strike="noStrike">
                <a:solidFill>
                  <a:srgbClr val="FFFAC5"/>
                </a:solidFill>
                <a:latin typeface="Lora"/>
                <a:ea typeface="Lora"/>
                <a:cs typeface="Lora"/>
                <a:sym typeface="Lora"/>
              </a:rPr>
              <a:t>Highlights players who can contribute in multiple </a:t>
            </a:r>
            <a:endParaRPr/>
          </a:p>
          <a:p>
            <a:pPr indent="0" lvl="0" marL="0" marR="0" rtl="0" algn="l">
              <a:lnSpc>
                <a:spcPct val="180000"/>
              </a:lnSpc>
              <a:spcBef>
                <a:spcPts val="0"/>
              </a:spcBef>
              <a:spcAft>
                <a:spcPts val="0"/>
              </a:spcAft>
              <a:buNone/>
            </a:pPr>
            <a:r>
              <a:rPr b="1" i="0" lang="en-US" sz="2400" u="none" cap="none" strike="noStrike">
                <a:solidFill>
                  <a:srgbClr val="FFFAC5"/>
                </a:solidFill>
                <a:latin typeface="Lora"/>
                <a:ea typeface="Lora"/>
                <a:cs typeface="Lora"/>
                <a:sym typeface="Lora"/>
              </a:rPr>
              <a:t>       areas and provide greater team flexibility.</a:t>
            </a:r>
            <a:endParaRPr/>
          </a:p>
          <a:p>
            <a:pPr indent="-273368" lvl="1" marL="546735" marR="0" rtl="0" algn="l">
              <a:lnSpc>
                <a:spcPct val="157500"/>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312420" lvl="1" marL="624840" marR="0" rtl="0" algn="l">
              <a:lnSpc>
                <a:spcPct val="180000"/>
              </a:lnSpc>
              <a:spcBef>
                <a:spcPts val="0"/>
              </a:spcBef>
              <a:spcAft>
                <a:spcPts val="0"/>
              </a:spcAft>
              <a:buClr>
                <a:srgbClr val="FFFAC5"/>
              </a:buClr>
              <a:buSzPts val="2400"/>
              <a:buFont typeface="Arial"/>
              <a:buChar char="•"/>
            </a:pPr>
            <a:r>
              <a:rPr b="1" i="0" lang="en-US" sz="2400" u="none" cap="none" strike="noStrike">
                <a:solidFill>
                  <a:srgbClr val="FFFAC5"/>
                </a:solidFill>
                <a:latin typeface="Lora"/>
                <a:ea typeface="Lora"/>
                <a:cs typeface="Lora"/>
                <a:sym typeface="Lora"/>
              </a:rPr>
              <a:t>Useful for identifying versatile players during squad </a:t>
            </a:r>
            <a:endParaRPr/>
          </a:p>
          <a:p>
            <a:pPr indent="0" lvl="0" marL="0" marR="0" rtl="0" algn="l">
              <a:lnSpc>
                <a:spcPct val="180000"/>
              </a:lnSpc>
              <a:spcBef>
                <a:spcPts val="0"/>
              </a:spcBef>
              <a:spcAft>
                <a:spcPts val="0"/>
              </a:spcAft>
              <a:buNone/>
            </a:pPr>
            <a:r>
              <a:rPr b="1" i="0" lang="en-US" sz="2400" u="none" cap="none" strike="noStrike">
                <a:solidFill>
                  <a:srgbClr val="FFFAC5"/>
                </a:solidFill>
                <a:latin typeface="Lora"/>
                <a:ea typeface="Lora"/>
                <a:cs typeface="Lora"/>
                <a:sym typeface="Lora"/>
              </a:rPr>
              <a:t>       selection and strategy planning.</a:t>
            </a:r>
            <a:endParaRPr/>
          </a:p>
          <a:p>
            <a:pPr indent="-273368" lvl="1" marL="546735" marR="0" rtl="0" algn="l">
              <a:lnSpc>
                <a:spcPct val="157500"/>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73368" lvl="1" marL="546735" marR="0" rtl="0" algn="just">
              <a:lnSpc>
                <a:spcPct val="157500"/>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73368" lvl="1" marL="546735" marR="0" rtl="0" algn="just">
              <a:lnSpc>
                <a:spcPct val="157500"/>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73368" lvl="1" marL="546735" marR="0" rtl="0" algn="just">
              <a:lnSpc>
                <a:spcPct val="157500"/>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73368" lvl="1" marL="546735" marR="0" rtl="0" algn="l">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73368" lvl="1" marL="546735" marR="0" rtl="0" algn="l">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73368" lvl="1" marL="546735"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73368" lvl="1" marL="546735"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73368" lvl="1" marL="546735"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73368" lvl="1" marL="546735"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73368" lvl="1" marL="546735"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73368" lvl="1" marL="546735"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73368" lvl="1" marL="546735"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73368" lvl="1" marL="546735"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a:p>
            <a:pPr indent="-273368" lvl="1" marL="546735" marR="0" rtl="0" algn="ctr">
              <a:lnSpc>
                <a:spcPct val="104999"/>
              </a:lnSpc>
              <a:spcBef>
                <a:spcPts val="0"/>
              </a:spcBef>
              <a:spcAft>
                <a:spcPts val="0"/>
              </a:spcAft>
              <a:buNone/>
            </a:pPr>
            <a:r>
              <a:t/>
            </a:r>
            <a:endParaRPr b="1" i="0" sz="2400" u="none" cap="none" strike="noStrike">
              <a:solidFill>
                <a:srgbClr val="FFFAC5"/>
              </a:solidFill>
              <a:latin typeface="Lora"/>
              <a:ea typeface="Lora"/>
              <a:cs typeface="Lora"/>
              <a:sym typeface="Lora"/>
            </a:endParaRPr>
          </a:p>
        </p:txBody>
      </p:sp>
      <p:sp>
        <p:nvSpPr>
          <p:cNvPr descr="Chart" id="216" name="Google Shape;216;p9"/>
          <p:cNvSpPr/>
          <p:nvPr/>
        </p:nvSpPr>
        <p:spPr>
          <a:xfrm>
            <a:off x="9951939" y="2451973"/>
            <a:ext cx="8001000" cy="6505670"/>
          </a:xfrm>
          <a:custGeom>
            <a:rect b="b" l="l" r="r" t="t"/>
            <a:pathLst>
              <a:path extrusionOk="0" h="8674227" w="10668000">
                <a:moveTo>
                  <a:pt x="0" y="0"/>
                </a:moveTo>
                <a:lnTo>
                  <a:pt x="10668000" y="0"/>
                </a:lnTo>
                <a:lnTo>
                  <a:pt x="10668000" y="8674227"/>
                </a:lnTo>
                <a:lnTo>
                  <a:pt x="0" y="8674227"/>
                </a:lnTo>
                <a:lnTo>
                  <a:pt x="0" y="0"/>
                </a:lnTo>
                <a:close/>
              </a:path>
            </a:pathLst>
          </a:custGeom>
          <a:blipFill rotWithShape="1">
            <a:blip r:embed="rId5">
              <a:alphaModFix/>
            </a:blip>
            <a:stretch>
              <a:fillRect b="0" l="0" r="-31499" t="0"/>
            </a:stretch>
          </a:blipFill>
          <a:ln>
            <a:noFill/>
          </a:ln>
        </p:spPr>
      </p:sp>
      <p:sp>
        <p:nvSpPr>
          <p:cNvPr id="217" name="Google Shape;217;p9"/>
          <p:cNvSpPr txBox="1"/>
          <p:nvPr/>
        </p:nvSpPr>
        <p:spPr>
          <a:xfrm>
            <a:off x="342900" y="8957662"/>
            <a:ext cx="10304205" cy="83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800" u="none" cap="none" strike="noStrike">
                <a:solidFill>
                  <a:srgbClr val="FFFAC5"/>
                </a:solidFill>
                <a:latin typeface="Lora"/>
                <a:ea typeface="Lora"/>
                <a:cs typeface="Lora"/>
                <a:sym typeface="Lora"/>
              </a:rPr>
              <a:t>Key Insight: </a:t>
            </a:r>
            <a:r>
              <a:rPr b="0" i="0" lang="en-US" sz="2800" u="none" cap="none" strike="noStrike">
                <a:solidFill>
                  <a:srgbClr val="FFFAC5"/>
                </a:solidFill>
                <a:latin typeface="Lora"/>
                <a:ea typeface="Lora"/>
                <a:cs typeface="Lora"/>
                <a:sym typeface="Lora"/>
              </a:rPr>
              <a:t>Players above both overall averages demonstrate strong two-way performance.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g3f84540935f_0_0"/>
          <p:cNvPicPr preferRelativeResize="0"/>
          <p:nvPr/>
        </p:nvPicPr>
        <p:blipFill rotWithShape="1">
          <a:blip r:embed="rId3">
            <a:alphaModFix/>
          </a:blip>
          <a:srcRect b="0" l="0" r="0" t="0"/>
          <a:stretch/>
        </p:blipFill>
        <p:spPr>
          <a:xfrm>
            <a:off x="-71425" y="-182275"/>
            <a:ext cx="18430875" cy="102953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033"/>
        </a:solidFill>
      </p:bgPr>
    </p:bg>
    <p:spTree>
      <p:nvGrpSpPr>
        <p:cNvPr id="231" name="Shape 231"/>
        <p:cNvGrpSpPr/>
        <p:nvPr/>
      </p:nvGrpSpPr>
      <p:grpSpPr>
        <a:xfrm>
          <a:off x="0" y="0"/>
          <a:ext cx="0" cy="0"/>
          <a:chOff x="0" y="0"/>
          <a:chExt cx="0" cy="0"/>
        </a:xfrm>
      </p:grpSpPr>
      <p:sp>
        <p:nvSpPr>
          <p:cNvPr id="232" name="Google Shape;232;p11"/>
          <p:cNvSpPr/>
          <p:nvPr/>
        </p:nvSpPr>
        <p:spPr>
          <a:xfrm>
            <a:off x="342900" y="222685"/>
            <a:ext cx="2661429" cy="1330715"/>
          </a:xfrm>
          <a:custGeom>
            <a:rect b="b" l="l" r="r" t="t"/>
            <a:pathLst>
              <a:path extrusionOk="0" h="1152525" w="2305050">
                <a:moveTo>
                  <a:pt x="0" y="0"/>
                </a:moveTo>
                <a:lnTo>
                  <a:pt x="2305050" y="0"/>
                </a:lnTo>
                <a:lnTo>
                  <a:pt x="2305050" y="1152525"/>
                </a:lnTo>
                <a:lnTo>
                  <a:pt x="0" y="1152525"/>
                </a:lnTo>
                <a:lnTo>
                  <a:pt x="0" y="0"/>
                </a:lnTo>
                <a:close/>
              </a:path>
            </a:pathLst>
          </a:custGeom>
          <a:blipFill rotWithShape="1">
            <a:blip r:embed="rId3">
              <a:alphaModFix/>
            </a:blip>
            <a:stretch>
              <a:fillRect b="0" l="0" r="0" t="0"/>
            </a:stretch>
          </a:blipFill>
          <a:ln>
            <a:noFill/>
          </a:ln>
        </p:spPr>
      </p:sp>
      <p:sp>
        <p:nvSpPr>
          <p:cNvPr id="233" name="Google Shape;233;p11"/>
          <p:cNvSpPr txBox="1"/>
          <p:nvPr/>
        </p:nvSpPr>
        <p:spPr>
          <a:xfrm>
            <a:off x="4317459" y="654882"/>
            <a:ext cx="9653081" cy="6381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200" u="none" cap="none" strike="noStrike">
                <a:solidFill>
                  <a:srgbClr val="FFFAC5"/>
                </a:solidFill>
                <a:latin typeface="Lora"/>
                <a:ea typeface="Lora"/>
                <a:cs typeface="Lora"/>
                <a:sym typeface="Lora"/>
              </a:rPr>
              <a:t>RCB Strategic Recommendations</a:t>
            </a:r>
            <a:endParaRPr/>
          </a:p>
        </p:txBody>
      </p:sp>
      <p:sp>
        <p:nvSpPr>
          <p:cNvPr descr="A colorful lines on a black background  Description automatically generated" id="234" name="Google Shape;234;p11"/>
          <p:cNvSpPr/>
          <p:nvPr/>
        </p:nvSpPr>
        <p:spPr>
          <a:xfrm>
            <a:off x="14164589" y="0"/>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90000"/>
            </a:blip>
            <a:stretch>
              <a:fillRect b="-190" l="0" r="0" t="0"/>
            </a:stretch>
          </a:blipFill>
          <a:ln>
            <a:noFill/>
          </a:ln>
        </p:spPr>
      </p:sp>
      <p:sp>
        <p:nvSpPr>
          <p:cNvPr descr="A colorful lines on a black background  Description automatically generated" id="235" name="Google Shape;235;p11"/>
          <p:cNvSpPr/>
          <p:nvPr/>
        </p:nvSpPr>
        <p:spPr>
          <a:xfrm rot="10800000">
            <a:off x="30" y="7941754"/>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42999"/>
            </a:blip>
            <a:stretch>
              <a:fillRect b="-190" l="0" r="0" t="0"/>
            </a:stretch>
          </a:blipFill>
          <a:ln>
            <a:noFill/>
          </a:ln>
        </p:spPr>
      </p:sp>
      <p:sp>
        <p:nvSpPr>
          <p:cNvPr id="236" name="Google Shape;236;p11"/>
          <p:cNvSpPr txBox="1"/>
          <p:nvPr/>
        </p:nvSpPr>
        <p:spPr>
          <a:xfrm>
            <a:off x="522075" y="2087423"/>
            <a:ext cx="17624978" cy="6476429"/>
          </a:xfrm>
          <a:prstGeom prst="rect">
            <a:avLst/>
          </a:prstGeom>
          <a:noFill/>
          <a:ln>
            <a:noFill/>
          </a:ln>
        </p:spPr>
        <p:txBody>
          <a:bodyPr anchorCtr="0" anchor="t" bIns="0" lIns="0" spcFirstLastPara="1" rIns="0" wrap="square" tIns="0">
            <a:spAutoFit/>
          </a:bodyPr>
          <a:lstStyle/>
          <a:p>
            <a:pPr indent="-321097" lvl="1" marL="642195" marR="0" rtl="0" algn="just">
              <a:lnSpc>
                <a:spcPct val="138000"/>
              </a:lnSpc>
              <a:spcBef>
                <a:spcPts val="0"/>
              </a:spcBef>
              <a:spcAft>
                <a:spcPts val="0"/>
              </a:spcAft>
              <a:buClr>
                <a:srgbClr val="FFFAC5"/>
              </a:buClr>
              <a:buSzPts val="2550"/>
              <a:buFont typeface="Arial"/>
              <a:buChar char="•"/>
            </a:pPr>
            <a:r>
              <a:rPr b="1" i="0" lang="en-US" sz="2550" u="none" cap="none" strike="noStrike">
                <a:solidFill>
                  <a:srgbClr val="FFFAC5"/>
                </a:solidFill>
                <a:latin typeface="Lora"/>
                <a:ea typeface="Lora"/>
                <a:cs typeface="Lora"/>
                <a:sym typeface="Lora"/>
              </a:rPr>
              <a:t>Prioritize consistent performers</a:t>
            </a:r>
            <a:endParaRPr/>
          </a:p>
          <a:p>
            <a:pPr indent="0" lvl="0" marL="0" marR="0" rtl="0" algn="just">
              <a:lnSpc>
                <a:spcPct val="138000"/>
              </a:lnSpc>
              <a:spcBef>
                <a:spcPts val="0"/>
              </a:spcBef>
              <a:spcAft>
                <a:spcPts val="0"/>
              </a:spcAft>
              <a:buNone/>
            </a:pPr>
            <a:r>
              <a:rPr b="1" i="0" lang="en-US" sz="2550" u="none" cap="none" strike="noStrike">
                <a:solidFill>
                  <a:srgbClr val="FFFAC5"/>
                </a:solidFill>
                <a:latin typeface="Lora"/>
                <a:ea typeface="Lora"/>
                <a:cs typeface="Lora"/>
                <a:sym typeface="Lora"/>
              </a:rPr>
              <a:t>        </a:t>
            </a:r>
            <a:r>
              <a:rPr b="0" i="0" lang="en-US" sz="2550" u="none" cap="none" strike="noStrike">
                <a:solidFill>
                  <a:srgbClr val="FFFAC5"/>
                </a:solidFill>
                <a:latin typeface="Lora"/>
                <a:ea typeface="Lora"/>
                <a:cs typeface="Lora"/>
                <a:sym typeface="Lora"/>
              </a:rPr>
              <a:t>Use season-wise runs, wickets and win percentage to identify reliable players.</a:t>
            </a:r>
            <a:endParaRPr/>
          </a:p>
          <a:p>
            <a:pPr indent="0" lvl="0" marL="0" marR="0" rtl="0" algn="just">
              <a:lnSpc>
                <a:spcPct val="138000"/>
              </a:lnSpc>
              <a:spcBef>
                <a:spcPts val="0"/>
              </a:spcBef>
              <a:spcAft>
                <a:spcPts val="0"/>
              </a:spcAft>
              <a:buNone/>
            </a:pPr>
            <a:r>
              <a:t/>
            </a:r>
            <a:endParaRPr b="0" i="0" sz="2550" u="none" cap="none" strike="noStrike">
              <a:solidFill>
                <a:srgbClr val="FFFAC5"/>
              </a:solidFill>
              <a:latin typeface="Lora"/>
              <a:ea typeface="Lora"/>
              <a:cs typeface="Lora"/>
              <a:sym typeface="Lora"/>
            </a:endParaRPr>
          </a:p>
          <a:p>
            <a:pPr indent="-321097" lvl="1" marL="642195" marR="0" rtl="0" algn="just">
              <a:lnSpc>
                <a:spcPct val="138000"/>
              </a:lnSpc>
              <a:spcBef>
                <a:spcPts val="0"/>
              </a:spcBef>
              <a:spcAft>
                <a:spcPts val="0"/>
              </a:spcAft>
              <a:buClr>
                <a:srgbClr val="FFFAC5"/>
              </a:buClr>
              <a:buSzPts val="2550"/>
              <a:buFont typeface="Arial"/>
              <a:buChar char="•"/>
            </a:pPr>
            <a:r>
              <a:rPr b="1" i="0" lang="en-US" sz="2550" u="none" cap="none" strike="noStrike">
                <a:solidFill>
                  <a:srgbClr val="FFFAC5"/>
                </a:solidFill>
                <a:latin typeface="Lora"/>
                <a:ea typeface="Lora"/>
                <a:cs typeface="Lora"/>
                <a:sym typeface="Lora"/>
              </a:rPr>
              <a:t>Build a balanced squad</a:t>
            </a:r>
            <a:endParaRPr/>
          </a:p>
          <a:p>
            <a:pPr indent="0" lvl="0" marL="0" marR="0" rtl="0" algn="just">
              <a:lnSpc>
                <a:spcPct val="138000"/>
              </a:lnSpc>
              <a:spcBef>
                <a:spcPts val="0"/>
              </a:spcBef>
              <a:spcAft>
                <a:spcPts val="0"/>
              </a:spcAft>
              <a:buNone/>
            </a:pPr>
            <a:r>
              <a:rPr b="0" i="0" lang="en-US" sz="2550" u="none" cap="none" strike="noStrike">
                <a:solidFill>
                  <a:srgbClr val="FFFAC5"/>
                </a:solidFill>
                <a:latin typeface="Lora"/>
                <a:ea typeface="Lora"/>
                <a:cs typeface="Lora"/>
                <a:sym typeface="Lora"/>
              </a:rPr>
              <a:t>       Combine strong batsmen, wicket-taking bowlers and versatile all-rounders.</a:t>
            </a:r>
            <a:endParaRPr/>
          </a:p>
          <a:p>
            <a:pPr indent="0" lvl="0" marL="0" marR="0" rtl="0" algn="just">
              <a:lnSpc>
                <a:spcPct val="138000"/>
              </a:lnSpc>
              <a:spcBef>
                <a:spcPts val="0"/>
              </a:spcBef>
              <a:spcAft>
                <a:spcPts val="0"/>
              </a:spcAft>
              <a:buNone/>
            </a:pPr>
            <a:r>
              <a:t/>
            </a:r>
            <a:endParaRPr b="0" i="0" sz="2550" u="none" cap="none" strike="noStrike">
              <a:solidFill>
                <a:srgbClr val="FFFAC5"/>
              </a:solidFill>
              <a:latin typeface="Lora"/>
              <a:ea typeface="Lora"/>
              <a:cs typeface="Lora"/>
              <a:sym typeface="Lora"/>
            </a:endParaRPr>
          </a:p>
          <a:p>
            <a:pPr indent="-321097" lvl="1" marL="642195" marR="0" rtl="0" algn="just">
              <a:lnSpc>
                <a:spcPct val="138000"/>
              </a:lnSpc>
              <a:spcBef>
                <a:spcPts val="0"/>
              </a:spcBef>
              <a:spcAft>
                <a:spcPts val="0"/>
              </a:spcAft>
              <a:buClr>
                <a:srgbClr val="FFFAC5"/>
              </a:buClr>
              <a:buSzPts val="2550"/>
              <a:buFont typeface="Arial"/>
              <a:buChar char="•"/>
            </a:pPr>
            <a:r>
              <a:rPr b="1" i="0" lang="en-US" sz="2550" u="none" cap="none" strike="noStrike">
                <a:solidFill>
                  <a:srgbClr val="FFFAC5"/>
                </a:solidFill>
                <a:latin typeface="Lora"/>
                <a:ea typeface="Lora"/>
                <a:cs typeface="Lora"/>
                <a:sym typeface="Lora"/>
              </a:rPr>
              <a:t>Use venue-specific selection</a:t>
            </a:r>
            <a:endParaRPr/>
          </a:p>
          <a:p>
            <a:pPr indent="0" lvl="0" marL="0" marR="0" rtl="0" algn="just">
              <a:lnSpc>
                <a:spcPct val="138000"/>
              </a:lnSpc>
              <a:spcBef>
                <a:spcPts val="0"/>
              </a:spcBef>
              <a:spcAft>
                <a:spcPts val="0"/>
              </a:spcAft>
              <a:buNone/>
            </a:pPr>
            <a:r>
              <a:rPr b="0" i="0" lang="en-US" sz="2550" u="none" cap="none" strike="noStrike">
                <a:solidFill>
                  <a:srgbClr val="FFFAC5"/>
                </a:solidFill>
                <a:latin typeface="Lora"/>
                <a:ea typeface="Lora"/>
                <a:cs typeface="Lora"/>
                <a:sym typeface="Lora"/>
              </a:rPr>
              <a:t>       Consider player performance across venues when planning the playing XI.</a:t>
            </a:r>
            <a:endParaRPr/>
          </a:p>
          <a:p>
            <a:pPr indent="0" lvl="0" marL="0" marR="0" rtl="0" algn="just">
              <a:lnSpc>
                <a:spcPct val="138000"/>
              </a:lnSpc>
              <a:spcBef>
                <a:spcPts val="0"/>
              </a:spcBef>
              <a:spcAft>
                <a:spcPts val="0"/>
              </a:spcAft>
              <a:buNone/>
            </a:pPr>
            <a:r>
              <a:t/>
            </a:r>
            <a:endParaRPr b="0" i="0" sz="2550" u="none" cap="none" strike="noStrike">
              <a:solidFill>
                <a:srgbClr val="FFFAC5"/>
              </a:solidFill>
              <a:latin typeface="Lora"/>
              <a:ea typeface="Lora"/>
              <a:cs typeface="Lora"/>
              <a:sym typeface="Lora"/>
            </a:endParaRPr>
          </a:p>
          <a:p>
            <a:pPr indent="-321097" lvl="1" marL="642195" marR="0" rtl="0" algn="just">
              <a:lnSpc>
                <a:spcPct val="138000"/>
              </a:lnSpc>
              <a:spcBef>
                <a:spcPts val="0"/>
              </a:spcBef>
              <a:spcAft>
                <a:spcPts val="0"/>
              </a:spcAft>
              <a:buClr>
                <a:srgbClr val="FFFAC5"/>
              </a:buClr>
              <a:buSzPts val="2550"/>
              <a:buFont typeface="Arial"/>
              <a:buChar char="•"/>
            </a:pPr>
            <a:r>
              <a:rPr b="1" i="0" lang="en-US" sz="2550" u="none" cap="none" strike="noStrike">
                <a:solidFill>
                  <a:srgbClr val="FFFAC5"/>
                </a:solidFill>
                <a:latin typeface="Lora"/>
                <a:ea typeface="Lora"/>
                <a:cs typeface="Lora"/>
                <a:sym typeface="Lora"/>
              </a:rPr>
              <a:t>Strengthen home-ground strategy</a:t>
            </a:r>
            <a:endParaRPr/>
          </a:p>
          <a:p>
            <a:pPr indent="0" lvl="0" marL="0" marR="0" rtl="0" algn="just">
              <a:lnSpc>
                <a:spcPct val="138000"/>
              </a:lnSpc>
              <a:spcBef>
                <a:spcPts val="0"/>
              </a:spcBef>
              <a:spcAft>
                <a:spcPts val="0"/>
              </a:spcAft>
              <a:buNone/>
            </a:pPr>
            <a:r>
              <a:rPr b="0" i="0" lang="en-US" sz="2550" u="none" cap="none" strike="noStrike">
                <a:solidFill>
                  <a:srgbClr val="FFFAC5"/>
                </a:solidFill>
                <a:latin typeface="Lora"/>
                <a:ea typeface="Lora"/>
                <a:cs typeface="Lora"/>
                <a:sym typeface="Lora"/>
              </a:rPr>
              <a:t>       Use venue and toss patterns to adapt match planning and team composition.</a:t>
            </a:r>
            <a:endParaRPr/>
          </a:p>
          <a:p>
            <a:pPr indent="0" lvl="0" marL="0" marR="0" rtl="0" algn="just">
              <a:lnSpc>
                <a:spcPct val="138000"/>
              </a:lnSpc>
              <a:spcBef>
                <a:spcPts val="0"/>
              </a:spcBef>
              <a:spcAft>
                <a:spcPts val="0"/>
              </a:spcAft>
              <a:buNone/>
            </a:pPr>
            <a:r>
              <a:t/>
            </a:r>
            <a:endParaRPr b="0" i="0" sz="2550" u="none" cap="none" strike="noStrike">
              <a:solidFill>
                <a:srgbClr val="FFFAC5"/>
              </a:solidFill>
              <a:latin typeface="Lora"/>
              <a:ea typeface="Lora"/>
              <a:cs typeface="Lora"/>
              <a:sym typeface="Lora"/>
            </a:endParaRPr>
          </a:p>
          <a:p>
            <a:pPr indent="-275272" lvl="1" marL="550545" marR="0" rtl="0" algn="just">
              <a:lnSpc>
                <a:spcPct val="138000"/>
              </a:lnSpc>
              <a:spcBef>
                <a:spcPts val="0"/>
              </a:spcBef>
              <a:spcAft>
                <a:spcPts val="0"/>
              </a:spcAft>
              <a:buClr>
                <a:srgbClr val="FFFAC5"/>
              </a:buClr>
              <a:buSzPts val="2550"/>
              <a:buFont typeface="Arial"/>
              <a:buChar char="•"/>
            </a:pPr>
            <a:r>
              <a:rPr b="1" i="0" lang="en-US" sz="2550" u="none" cap="none" strike="noStrike">
                <a:solidFill>
                  <a:srgbClr val="FFFAC5"/>
                </a:solidFill>
                <a:latin typeface="Lora"/>
                <a:ea typeface="Lora"/>
                <a:cs typeface="Lora"/>
                <a:sym typeface="Lora"/>
              </a:rPr>
              <a:t>Follow data-driven player selection</a:t>
            </a:r>
            <a:endParaRPr/>
          </a:p>
          <a:p>
            <a:pPr indent="0" lvl="0" marL="0" marR="0" rtl="0" algn="just">
              <a:lnSpc>
                <a:spcPct val="138000"/>
              </a:lnSpc>
              <a:spcBef>
                <a:spcPts val="0"/>
              </a:spcBef>
              <a:spcAft>
                <a:spcPts val="0"/>
              </a:spcAft>
              <a:buNone/>
            </a:pPr>
            <a:r>
              <a:rPr b="0" i="0" lang="en-US" sz="2550" u="none" cap="none" strike="noStrike">
                <a:solidFill>
                  <a:srgbClr val="FFFAC5"/>
                </a:solidFill>
                <a:latin typeface="Lora"/>
                <a:ea typeface="Lora"/>
                <a:cs typeface="Lora"/>
                <a:sym typeface="Lora"/>
              </a:rPr>
              <a:t>      Use performance trends, consistency and multi-skill contribution rather than relying only on reputation.</a:t>
            </a:r>
            <a:endParaRPr/>
          </a:p>
          <a:p>
            <a:pPr indent="-264542" lvl="1" marL="529085" marR="0" rtl="0" algn="ctr">
              <a:lnSpc>
                <a:spcPct val="98823"/>
              </a:lnSpc>
              <a:spcBef>
                <a:spcPts val="0"/>
              </a:spcBef>
              <a:spcAft>
                <a:spcPts val="0"/>
              </a:spcAft>
              <a:buNone/>
            </a:pPr>
            <a:r>
              <a:t/>
            </a:r>
            <a:endParaRPr b="0" i="0" sz="2550" u="none" cap="none" strike="noStrike">
              <a:solidFill>
                <a:srgbClr val="FFFAC5"/>
              </a:solidFill>
              <a:latin typeface="Lora"/>
              <a:ea typeface="Lora"/>
              <a:cs typeface="Lora"/>
              <a:sym typeface="Lo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033"/>
        </a:solidFill>
      </p:bgPr>
    </p:bg>
    <p:spTree>
      <p:nvGrpSpPr>
        <p:cNvPr id="244" name="Shape 244"/>
        <p:cNvGrpSpPr/>
        <p:nvPr/>
      </p:nvGrpSpPr>
      <p:grpSpPr>
        <a:xfrm>
          <a:off x="0" y="0"/>
          <a:ext cx="0" cy="0"/>
          <a:chOff x="0" y="0"/>
          <a:chExt cx="0" cy="0"/>
        </a:xfrm>
      </p:grpSpPr>
      <p:sp>
        <p:nvSpPr>
          <p:cNvPr id="245" name="Google Shape;245;p12"/>
          <p:cNvSpPr/>
          <p:nvPr/>
        </p:nvSpPr>
        <p:spPr>
          <a:xfrm>
            <a:off x="342900" y="222685"/>
            <a:ext cx="2928118" cy="1464059"/>
          </a:xfrm>
          <a:custGeom>
            <a:rect b="b" l="l" r="r" t="t"/>
            <a:pathLst>
              <a:path extrusionOk="0" h="1152525" w="2305050">
                <a:moveTo>
                  <a:pt x="0" y="0"/>
                </a:moveTo>
                <a:lnTo>
                  <a:pt x="2305050" y="0"/>
                </a:lnTo>
                <a:lnTo>
                  <a:pt x="2305050" y="1152525"/>
                </a:lnTo>
                <a:lnTo>
                  <a:pt x="0" y="1152525"/>
                </a:lnTo>
                <a:lnTo>
                  <a:pt x="0" y="0"/>
                </a:lnTo>
                <a:close/>
              </a:path>
            </a:pathLst>
          </a:custGeom>
          <a:blipFill rotWithShape="1">
            <a:blip r:embed="rId3">
              <a:alphaModFix/>
            </a:blip>
            <a:stretch>
              <a:fillRect b="0" l="0" r="0" t="0"/>
            </a:stretch>
          </a:blipFill>
          <a:ln>
            <a:noFill/>
          </a:ln>
        </p:spPr>
      </p:sp>
      <p:sp>
        <p:nvSpPr>
          <p:cNvPr descr="A colorful lines on a black background  Description automatically generated" id="246" name="Google Shape;246;p12"/>
          <p:cNvSpPr/>
          <p:nvPr/>
        </p:nvSpPr>
        <p:spPr>
          <a:xfrm>
            <a:off x="14164589" y="0"/>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90000"/>
            </a:blip>
            <a:stretch>
              <a:fillRect b="-190" l="0" r="0" t="0"/>
            </a:stretch>
          </a:blipFill>
          <a:ln>
            <a:noFill/>
          </a:ln>
        </p:spPr>
      </p:sp>
      <p:sp>
        <p:nvSpPr>
          <p:cNvPr descr="A colorful lines on a black background  Description automatically generated" id="247" name="Google Shape;247;p12"/>
          <p:cNvSpPr/>
          <p:nvPr/>
        </p:nvSpPr>
        <p:spPr>
          <a:xfrm rot="10800000">
            <a:off x="38" y="7941754"/>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42999"/>
            </a:blip>
            <a:stretch>
              <a:fillRect b="-190" l="0" r="0" t="0"/>
            </a:stretch>
          </a:blipFill>
          <a:ln>
            <a:noFill/>
          </a:ln>
        </p:spPr>
      </p:sp>
      <p:sp>
        <p:nvSpPr>
          <p:cNvPr id="248" name="Google Shape;248;p12"/>
          <p:cNvSpPr txBox="1"/>
          <p:nvPr/>
        </p:nvSpPr>
        <p:spPr>
          <a:xfrm>
            <a:off x="1523286" y="3276598"/>
            <a:ext cx="8606657" cy="6019802"/>
          </a:xfrm>
          <a:prstGeom prst="rect">
            <a:avLst/>
          </a:prstGeom>
          <a:noFill/>
          <a:ln>
            <a:noFill/>
          </a:ln>
        </p:spPr>
        <p:txBody>
          <a:bodyPr anchorCtr="0" anchor="t" bIns="0" lIns="0" spcFirstLastPara="1" rIns="0" wrap="square" tIns="0">
            <a:spAutoFit/>
          </a:bodyPr>
          <a:lstStyle/>
          <a:p>
            <a:pPr indent="0" lvl="0" marL="0" marR="0" rtl="0" algn="l">
              <a:lnSpc>
                <a:spcPct val="180026"/>
              </a:lnSpc>
              <a:spcBef>
                <a:spcPts val="0"/>
              </a:spcBef>
              <a:spcAft>
                <a:spcPts val="0"/>
              </a:spcAft>
              <a:buNone/>
            </a:pPr>
            <a:r>
              <a:rPr b="0" i="0" lang="en-US" sz="2999" u="none" cap="none" strike="noStrike">
                <a:solidFill>
                  <a:srgbClr val="FFFAC5"/>
                </a:solidFill>
                <a:latin typeface="Lora"/>
                <a:ea typeface="Lora"/>
                <a:cs typeface="Lora"/>
                <a:sym typeface="Lora"/>
              </a:rPr>
              <a:t>The analysis shows that RCB has produced strong individual and team performances across different seasons, but consistency remains a key challenge. Player performance, venue conditions, toss decisions and season-wise team KPIs provide useful insights for strategic planning. A balanced and data-driven approach to player selection and match strategy can help RCB improve future performance.</a:t>
            </a:r>
            <a:endParaRPr/>
          </a:p>
        </p:txBody>
      </p:sp>
      <p:sp>
        <p:nvSpPr>
          <p:cNvPr id="249" name="Google Shape;249;p12"/>
          <p:cNvSpPr txBox="1"/>
          <p:nvPr/>
        </p:nvSpPr>
        <p:spPr>
          <a:xfrm>
            <a:off x="1523286" y="2153469"/>
            <a:ext cx="3670474" cy="8191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400" u="none" cap="none" strike="noStrike">
                <a:solidFill>
                  <a:srgbClr val="FFFAC5"/>
                </a:solidFill>
                <a:latin typeface="Lora"/>
                <a:ea typeface="Lora"/>
                <a:cs typeface="Lora"/>
                <a:sym typeface="Lora"/>
              </a:rPr>
              <a:t>Conclusion</a:t>
            </a:r>
            <a:endParaRPr/>
          </a:p>
        </p:txBody>
      </p:sp>
      <p:sp>
        <p:nvSpPr>
          <p:cNvPr descr="A gold trophy with blue ribbons  Description automatically generated" id="250" name="Google Shape;250;p12"/>
          <p:cNvSpPr/>
          <p:nvPr/>
        </p:nvSpPr>
        <p:spPr>
          <a:xfrm>
            <a:off x="9657798" y="613296"/>
            <a:ext cx="8484203" cy="9673685"/>
          </a:xfrm>
          <a:custGeom>
            <a:rect b="b" l="l" r="r" t="t"/>
            <a:pathLst>
              <a:path extrusionOk="0" h="12898247" w="11312271">
                <a:moveTo>
                  <a:pt x="0" y="0"/>
                </a:moveTo>
                <a:lnTo>
                  <a:pt x="11312271" y="0"/>
                </a:lnTo>
                <a:lnTo>
                  <a:pt x="11312271" y="12898247"/>
                </a:lnTo>
                <a:lnTo>
                  <a:pt x="0" y="12898247"/>
                </a:lnTo>
                <a:lnTo>
                  <a:pt x="0" y="0"/>
                </a:lnTo>
                <a:close/>
              </a:path>
            </a:pathLst>
          </a:custGeom>
          <a:blipFill rotWithShape="1">
            <a:blip r:embed="rId5">
              <a:alphaModFix/>
            </a:blip>
            <a:stretch>
              <a:fillRect b="0" l="-51181" r="-51523" t="0"/>
            </a:stretch>
          </a:blipFill>
          <a:ln>
            <a:noFill/>
          </a:ln>
        </p:spPr>
      </p:sp>
      <p:sp>
        <p:nvSpPr>
          <p:cNvPr id="251" name="Google Shape;251;p12"/>
          <p:cNvSpPr/>
          <p:nvPr/>
        </p:nvSpPr>
        <p:spPr>
          <a:xfrm>
            <a:off x="12838809" y="2242915"/>
            <a:ext cx="726819" cy="319743"/>
          </a:xfrm>
          <a:custGeom>
            <a:rect b="b" l="l" r="r" t="t"/>
            <a:pathLst>
              <a:path extrusionOk="0" h="426323" w="969091">
                <a:moveTo>
                  <a:pt x="4707" y="143006"/>
                </a:moveTo>
                <a:cubicBezTo>
                  <a:pt x="39251" y="143006"/>
                  <a:pt x="85860" y="157230"/>
                  <a:pt x="103132" y="140720"/>
                </a:cubicBezTo>
                <a:cubicBezTo>
                  <a:pt x="305824" y="-54352"/>
                  <a:pt x="545092" y="1401"/>
                  <a:pt x="783217" y="29214"/>
                </a:cubicBezTo>
                <a:cubicBezTo>
                  <a:pt x="903359" y="42295"/>
                  <a:pt x="992640" y="62996"/>
                  <a:pt x="963557" y="217174"/>
                </a:cubicBezTo>
                <a:cubicBezTo>
                  <a:pt x="947428" y="300867"/>
                  <a:pt x="829953" y="418215"/>
                  <a:pt x="729369" y="421009"/>
                </a:cubicBezTo>
                <a:cubicBezTo>
                  <a:pt x="541663" y="426089"/>
                  <a:pt x="353576" y="428502"/>
                  <a:pt x="165870" y="423803"/>
                </a:cubicBezTo>
                <a:cubicBezTo>
                  <a:pt x="-12311" y="419358"/>
                  <a:pt x="-11422" y="414532"/>
                  <a:pt x="9406" y="226064"/>
                </a:cubicBezTo>
                <a:cubicBezTo>
                  <a:pt x="10168" y="198378"/>
                  <a:pt x="8517" y="170565"/>
                  <a:pt x="4707" y="14300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2"/>
          <p:cNvSpPr/>
          <p:nvPr/>
        </p:nvSpPr>
        <p:spPr>
          <a:xfrm>
            <a:off x="12956819" y="7829455"/>
            <a:ext cx="731215" cy="425758"/>
          </a:xfrm>
          <a:custGeom>
            <a:rect b="b" l="l" r="r" t="t"/>
            <a:pathLst>
              <a:path extrusionOk="0" h="425758" w="731215">
                <a:moveTo>
                  <a:pt x="0" y="0"/>
                </a:moveTo>
                <a:lnTo>
                  <a:pt x="731216" y="0"/>
                </a:lnTo>
                <a:lnTo>
                  <a:pt x="731216" y="425758"/>
                </a:lnTo>
                <a:lnTo>
                  <a:pt x="0" y="425758"/>
                </a:lnTo>
                <a:lnTo>
                  <a:pt x="0" y="0"/>
                </a:lnTo>
                <a:close/>
              </a:path>
            </a:pathLst>
          </a:custGeom>
          <a:blipFill rotWithShape="1">
            <a:blip r:embed="rId6">
              <a:alphaModFix/>
            </a:blip>
            <a:stretch>
              <a:fillRect b="0" l="0" r="0" t="0"/>
            </a:stretch>
          </a:blipFill>
          <a:ln>
            <a:noFill/>
          </a:ln>
        </p:spPr>
      </p:sp>
      <p:sp>
        <p:nvSpPr>
          <p:cNvPr id="253" name="Google Shape;253;p12"/>
          <p:cNvSpPr/>
          <p:nvPr/>
        </p:nvSpPr>
        <p:spPr>
          <a:xfrm>
            <a:off x="13087436" y="7559297"/>
            <a:ext cx="531800" cy="296085"/>
          </a:xfrm>
          <a:custGeom>
            <a:rect b="b" l="l" r="r" t="t"/>
            <a:pathLst>
              <a:path extrusionOk="0" h="296085" w="531800">
                <a:moveTo>
                  <a:pt x="0" y="0"/>
                </a:moveTo>
                <a:lnTo>
                  <a:pt x="531800" y="0"/>
                </a:lnTo>
                <a:lnTo>
                  <a:pt x="531800" y="296085"/>
                </a:lnTo>
                <a:lnTo>
                  <a:pt x="0" y="296085"/>
                </a:lnTo>
                <a:lnTo>
                  <a:pt x="0" y="0"/>
                </a:lnTo>
                <a:close/>
              </a:path>
            </a:pathLst>
          </a:custGeom>
          <a:blipFill rotWithShape="1">
            <a:blip r:embed="rId7">
              <a:alphaModFix/>
            </a:blip>
            <a:stretch>
              <a:fillRect b="0" l="0" r="0" t="0"/>
            </a:stretch>
          </a:blipFill>
          <a:ln>
            <a:noFill/>
          </a:ln>
        </p:spPr>
      </p:sp>
      <p:sp>
        <p:nvSpPr>
          <p:cNvPr id="254" name="Google Shape;254;p12"/>
          <p:cNvSpPr/>
          <p:nvPr/>
        </p:nvSpPr>
        <p:spPr>
          <a:xfrm>
            <a:off x="12393806" y="2909964"/>
            <a:ext cx="1082040" cy="25527"/>
          </a:xfrm>
          <a:custGeom>
            <a:rect b="b" l="l" r="r" t="t"/>
            <a:pathLst>
              <a:path extrusionOk="0" h="34036" w="1442720">
                <a:moveTo>
                  <a:pt x="1442593" y="17018"/>
                </a:moveTo>
                <a:cubicBezTo>
                  <a:pt x="1442593" y="26416"/>
                  <a:pt x="1119632" y="34036"/>
                  <a:pt x="721233" y="34036"/>
                </a:cubicBezTo>
                <a:cubicBezTo>
                  <a:pt x="322834" y="34036"/>
                  <a:pt x="0" y="26416"/>
                  <a:pt x="0" y="17018"/>
                </a:cubicBezTo>
                <a:cubicBezTo>
                  <a:pt x="0" y="7620"/>
                  <a:pt x="322961" y="0"/>
                  <a:pt x="721360" y="0"/>
                </a:cubicBezTo>
                <a:cubicBezTo>
                  <a:pt x="1119759" y="0"/>
                  <a:pt x="1442720" y="7620"/>
                  <a:pt x="1442720" y="1701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2"/>
          <p:cNvSpPr/>
          <p:nvPr/>
        </p:nvSpPr>
        <p:spPr>
          <a:xfrm>
            <a:off x="13197442" y="7787743"/>
            <a:ext cx="115212" cy="230402"/>
          </a:xfrm>
          <a:custGeom>
            <a:rect b="b" l="l" r="r" t="t"/>
            <a:pathLst>
              <a:path extrusionOk="0" h="307203" w="153616">
                <a:moveTo>
                  <a:pt x="10360" y="85207"/>
                </a:moveTo>
                <a:cubicBezTo>
                  <a:pt x="49730" y="29454"/>
                  <a:pt x="82877" y="-60843"/>
                  <a:pt x="153616" y="59553"/>
                </a:cubicBezTo>
                <a:lnTo>
                  <a:pt x="141297" y="307203"/>
                </a:lnTo>
                <a:cubicBezTo>
                  <a:pt x="7820" y="282311"/>
                  <a:pt x="-18088" y="200142"/>
                  <a:pt x="10360" y="85207"/>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033"/>
        </a:solidFill>
      </p:bgPr>
    </p:bg>
    <p:spTree>
      <p:nvGrpSpPr>
        <p:cNvPr id="263" name="Shape 263"/>
        <p:cNvGrpSpPr/>
        <p:nvPr/>
      </p:nvGrpSpPr>
      <p:grpSpPr>
        <a:xfrm>
          <a:off x="0" y="0"/>
          <a:ext cx="0" cy="0"/>
          <a:chOff x="0" y="0"/>
          <a:chExt cx="0" cy="0"/>
        </a:xfrm>
      </p:grpSpPr>
      <p:sp>
        <p:nvSpPr>
          <p:cNvPr id="264" name="Google Shape;264;p13"/>
          <p:cNvSpPr/>
          <p:nvPr/>
        </p:nvSpPr>
        <p:spPr>
          <a:xfrm>
            <a:off x="342900" y="222685"/>
            <a:ext cx="2804913" cy="1402456"/>
          </a:xfrm>
          <a:custGeom>
            <a:rect b="b" l="l" r="r" t="t"/>
            <a:pathLst>
              <a:path extrusionOk="0" h="1152525" w="2305050">
                <a:moveTo>
                  <a:pt x="0" y="0"/>
                </a:moveTo>
                <a:lnTo>
                  <a:pt x="2305050" y="0"/>
                </a:lnTo>
                <a:lnTo>
                  <a:pt x="2305050" y="1152525"/>
                </a:lnTo>
                <a:lnTo>
                  <a:pt x="0" y="1152525"/>
                </a:lnTo>
                <a:lnTo>
                  <a:pt x="0" y="0"/>
                </a:lnTo>
                <a:close/>
              </a:path>
            </a:pathLst>
          </a:custGeom>
          <a:blipFill rotWithShape="1">
            <a:blip r:embed="rId3">
              <a:alphaModFix/>
            </a:blip>
            <a:stretch>
              <a:fillRect b="0" l="0" r="0" t="0"/>
            </a:stretch>
          </a:blipFill>
          <a:ln>
            <a:noFill/>
          </a:ln>
        </p:spPr>
      </p:sp>
      <p:sp>
        <p:nvSpPr>
          <p:cNvPr descr="A colorful lines on a black background  Description automatically generated" id="265" name="Google Shape;265;p13"/>
          <p:cNvSpPr/>
          <p:nvPr/>
        </p:nvSpPr>
        <p:spPr>
          <a:xfrm>
            <a:off x="14164589" y="0"/>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90000"/>
            </a:blip>
            <a:stretch>
              <a:fillRect b="-190" l="0" r="0" t="0"/>
            </a:stretch>
          </a:blipFill>
          <a:ln>
            <a:noFill/>
          </a:ln>
        </p:spPr>
      </p:sp>
      <p:sp>
        <p:nvSpPr>
          <p:cNvPr descr="A colorful lines on a black background  Description automatically generated" id="266" name="Google Shape;266;p13"/>
          <p:cNvSpPr/>
          <p:nvPr/>
        </p:nvSpPr>
        <p:spPr>
          <a:xfrm rot="10800000">
            <a:off x="38" y="7941754"/>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42999"/>
            </a:blip>
            <a:stretch>
              <a:fillRect b="-190" l="0" r="0" t="0"/>
            </a:stretch>
          </a:blipFill>
          <a:ln>
            <a:noFill/>
          </a:ln>
        </p:spPr>
      </p:sp>
      <p:sp>
        <p:nvSpPr>
          <p:cNvPr id="267" name="Google Shape;267;p13"/>
          <p:cNvSpPr txBox="1"/>
          <p:nvPr/>
        </p:nvSpPr>
        <p:spPr>
          <a:xfrm>
            <a:off x="2581275" y="4334856"/>
            <a:ext cx="13125450" cy="15430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8100" u="none" cap="none" strike="noStrike">
                <a:solidFill>
                  <a:srgbClr val="FFFAC5"/>
                </a:solidFill>
                <a:latin typeface="Lora"/>
                <a:ea typeface="Lora"/>
                <a:cs typeface="Lora"/>
                <a:sym typeface="Lora"/>
              </a:rPr>
              <a:t>Thank You!</a:t>
            </a:r>
            <a:endParaRPr/>
          </a:p>
          <a:p>
            <a:pPr indent="0" lvl="0" marL="0" marR="0" rtl="0" algn="ctr">
              <a:lnSpc>
                <a:spcPct val="31111"/>
              </a:lnSpc>
              <a:spcBef>
                <a:spcPts val="0"/>
              </a:spcBef>
              <a:spcAft>
                <a:spcPts val="0"/>
              </a:spcAft>
              <a:buNone/>
            </a:pPr>
            <a:r>
              <a:t/>
            </a:r>
            <a:endParaRPr b="1" i="0" sz="8100" u="none" cap="none" strike="noStrike">
              <a:solidFill>
                <a:srgbClr val="FFFAC5"/>
              </a:solidFill>
              <a:latin typeface="Lora"/>
              <a:ea typeface="Lora"/>
              <a:cs typeface="Lora"/>
              <a:sym typeface="Lora"/>
            </a:endParaRPr>
          </a:p>
        </p:txBody>
      </p:sp>
      <p:sp>
        <p:nvSpPr>
          <p:cNvPr id="268" name="Google Shape;268;p13"/>
          <p:cNvSpPr/>
          <p:nvPr/>
        </p:nvSpPr>
        <p:spPr>
          <a:xfrm>
            <a:off x="0" y="0"/>
            <a:ext cx="18288000" cy="10345866"/>
          </a:xfrm>
          <a:custGeom>
            <a:rect b="b" l="l" r="r" t="t"/>
            <a:pathLst>
              <a:path extrusionOk="0" h="13794487" w="24384000">
                <a:moveTo>
                  <a:pt x="0" y="0"/>
                </a:moveTo>
                <a:lnTo>
                  <a:pt x="24384000" y="0"/>
                </a:lnTo>
                <a:lnTo>
                  <a:pt x="24384000" y="13794487"/>
                </a:lnTo>
                <a:lnTo>
                  <a:pt x="0" y="13794487"/>
                </a:lnTo>
                <a:lnTo>
                  <a:pt x="0" y="0"/>
                </a:lnTo>
                <a:close/>
              </a:path>
            </a:pathLst>
          </a:custGeom>
          <a:blipFill rotWithShape="1">
            <a:blip r:embed="rId5">
              <a:alphaModFix amt="10999"/>
            </a:blip>
            <a:stretch>
              <a:fillRect b="0" l="0" r="-108"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033"/>
        </a:solidFill>
      </p:bgPr>
    </p:bg>
    <p:spTree>
      <p:nvGrpSpPr>
        <p:cNvPr id="276" name="Shape 276"/>
        <p:cNvGrpSpPr/>
        <p:nvPr/>
      </p:nvGrpSpPr>
      <p:grpSpPr>
        <a:xfrm>
          <a:off x="0" y="0"/>
          <a:ext cx="0" cy="0"/>
          <a:chOff x="0" y="0"/>
          <a:chExt cx="0" cy="0"/>
        </a:xfrm>
      </p:grpSpPr>
      <p:sp>
        <p:nvSpPr>
          <p:cNvPr id="277" name="Google Shape;277;p14"/>
          <p:cNvSpPr/>
          <p:nvPr/>
        </p:nvSpPr>
        <p:spPr>
          <a:xfrm>
            <a:off x="342900" y="222685"/>
            <a:ext cx="1728788" cy="864394"/>
          </a:xfrm>
          <a:custGeom>
            <a:rect b="b" l="l" r="r" t="t"/>
            <a:pathLst>
              <a:path extrusionOk="0" h="1152525" w="2305050">
                <a:moveTo>
                  <a:pt x="0" y="0"/>
                </a:moveTo>
                <a:lnTo>
                  <a:pt x="2305050" y="0"/>
                </a:lnTo>
                <a:lnTo>
                  <a:pt x="2305050" y="1152525"/>
                </a:lnTo>
                <a:lnTo>
                  <a:pt x="0" y="1152525"/>
                </a:lnTo>
                <a:lnTo>
                  <a:pt x="0" y="0"/>
                </a:lnTo>
                <a:close/>
              </a:path>
            </a:pathLst>
          </a:custGeom>
          <a:blipFill rotWithShape="1">
            <a:blip r:embed="rId3">
              <a:alphaModFix/>
            </a:blip>
            <a:stretch>
              <a:fillRect b="0" l="0" r="0" t="0"/>
            </a:stretch>
          </a:blipFill>
          <a:ln>
            <a:noFill/>
          </a:ln>
        </p:spPr>
      </p:sp>
      <p:sp>
        <p:nvSpPr>
          <p:cNvPr descr="A colorful lines on a black background  Description automatically generated" id="278" name="Google Shape;278;p14"/>
          <p:cNvSpPr/>
          <p:nvPr/>
        </p:nvSpPr>
        <p:spPr>
          <a:xfrm>
            <a:off x="14164589" y="0"/>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90000"/>
            </a:blip>
            <a:stretch>
              <a:fillRect b="-190" l="0" r="0" t="0"/>
            </a:stretch>
          </a:blipFill>
          <a:ln>
            <a:noFill/>
          </a:ln>
        </p:spPr>
      </p:sp>
      <p:sp>
        <p:nvSpPr>
          <p:cNvPr descr="A colorful lines on a black background  Description automatically generated" id="279" name="Google Shape;279;p14"/>
          <p:cNvSpPr/>
          <p:nvPr/>
        </p:nvSpPr>
        <p:spPr>
          <a:xfrm rot="10800000">
            <a:off x="38" y="7941754"/>
            <a:ext cx="4123373" cy="2345246"/>
          </a:xfrm>
          <a:custGeom>
            <a:rect b="b" l="l" r="r" t="t"/>
            <a:pathLst>
              <a:path extrusionOk="0" h="3126994" w="5497830">
                <a:moveTo>
                  <a:pt x="0" y="0"/>
                </a:moveTo>
                <a:lnTo>
                  <a:pt x="5497830" y="0"/>
                </a:lnTo>
                <a:lnTo>
                  <a:pt x="5497830" y="3126994"/>
                </a:lnTo>
                <a:lnTo>
                  <a:pt x="0" y="3126994"/>
                </a:lnTo>
                <a:lnTo>
                  <a:pt x="0" y="0"/>
                </a:lnTo>
                <a:close/>
              </a:path>
            </a:pathLst>
          </a:custGeom>
          <a:blipFill rotWithShape="1">
            <a:blip r:embed="rId4">
              <a:alphaModFix amt="42999"/>
            </a:blip>
            <a:stretch>
              <a:fillRect b="-190" l="0" r="0" t="0"/>
            </a:stretch>
          </a:blipFill>
          <a:ln>
            <a:noFill/>
          </a:ln>
        </p:spPr>
      </p:sp>
      <p:sp>
        <p:nvSpPr>
          <p:cNvPr id="280" name="Google Shape;280;p14"/>
          <p:cNvSpPr/>
          <p:nvPr/>
        </p:nvSpPr>
        <p:spPr>
          <a:xfrm>
            <a:off x="2709862" y="2965675"/>
            <a:ext cx="8919924" cy="4688748"/>
          </a:xfrm>
          <a:custGeom>
            <a:rect b="b" l="l" r="r" t="t"/>
            <a:pathLst>
              <a:path extrusionOk="0" h="4688748" w="8919924">
                <a:moveTo>
                  <a:pt x="0" y="0"/>
                </a:moveTo>
                <a:lnTo>
                  <a:pt x="8919925" y="0"/>
                </a:lnTo>
                <a:lnTo>
                  <a:pt x="8919925" y="4688748"/>
                </a:lnTo>
                <a:lnTo>
                  <a:pt x="0" y="4688748"/>
                </a:lnTo>
                <a:lnTo>
                  <a:pt x="0" y="0"/>
                </a:lnTo>
                <a:close/>
              </a:path>
            </a:pathLst>
          </a:custGeom>
          <a:blipFill rotWithShape="1">
            <a:blip r:embed="rId5">
              <a:alphaModFix/>
            </a:blip>
            <a:stretch>
              <a:fillRect b="0" l="0" r="0" t="0"/>
            </a:stretch>
          </a:blipFill>
          <a:ln>
            <a:noFill/>
          </a:ln>
        </p:spPr>
      </p:sp>
      <p:sp>
        <p:nvSpPr>
          <p:cNvPr id="281" name="Google Shape;281;p14"/>
          <p:cNvSpPr txBox="1"/>
          <p:nvPr/>
        </p:nvSpPr>
        <p:spPr>
          <a:xfrm>
            <a:off x="4721603" y="3647475"/>
            <a:ext cx="6770936" cy="8191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5400" u="none" cap="none" strike="noStrike">
                <a:solidFill>
                  <a:srgbClr val="FFFAC5"/>
                </a:solidFill>
                <a:latin typeface="Lora"/>
                <a:ea typeface="Lora"/>
                <a:cs typeface="Lora"/>
                <a:sym typeface="Lora"/>
              </a:rPr>
              <a:t> IPL Winner 2025-26</a:t>
            </a:r>
            <a:endParaRPr/>
          </a:p>
        </p:txBody>
      </p:sp>
      <p:sp>
        <p:nvSpPr>
          <p:cNvPr id="282" name="Google Shape;282;p14"/>
          <p:cNvSpPr txBox="1"/>
          <p:nvPr/>
        </p:nvSpPr>
        <p:spPr>
          <a:xfrm>
            <a:off x="6367015" y="5363613"/>
            <a:ext cx="6181954" cy="12763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FFFFFF"/>
                </a:solidFill>
                <a:latin typeface="Lora"/>
                <a:ea typeface="Lora"/>
                <a:cs typeface="Lora"/>
                <a:sym typeface="Lora"/>
              </a:rPr>
              <a:t>Royal Challengers Bangalore</a:t>
            </a:r>
            <a:endParaRPr/>
          </a:p>
        </p:txBody>
      </p:sp>
      <p:sp>
        <p:nvSpPr>
          <p:cNvPr descr="A gold trophy with blue ribbons  Description automatically generated" id="283" name="Google Shape;283;p14"/>
          <p:cNvSpPr/>
          <p:nvPr/>
        </p:nvSpPr>
        <p:spPr>
          <a:xfrm>
            <a:off x="658682" y="2638006"/>
            <a:ext cx="4394835" cy="5011007"/>
          </a:xfrm>
          <a:custGeom>
            <a:rect b="b" l="l" r="r" t="t"/>
            <a:pathLst>
              <a:path extrusionOk="0" h="6681343" w="5859780">
                <a:moveTo>
                  <a:pt x="0" y="0"/>
                </a:moveTo>
                <a:lnTo>
                  <a:pt x="5859780" y="0"/>
                </a:lnTo>
                <a:lnTo>
                  <a:pt x="5859780" y="6681343"/>
                </a:lnTo>
                <a:lnTo>
                  <a:pt x="0" y="6681343"/>
                </a:lnTo>
                <a:lnTo>
                  <a:pt x="0" y="0"/>
                </a:lnTo>
                <a:close/>
              </a:path>
            </a:pathLst>
          </a:custGeom>
          <a:blipFill rotWithShape="1">
            <a:blip r:embed="rId6">
              <a:alphaModFix/>
            </a:blip>
            <a:stretch>
              <a:fillRect b="0" l="0" r="-54" t="0"/>
            </a:stretch>
          </a:blipFill>
          <a:ln>
            <a:noFill/>
          </a:ln>
        </p:spPr>
      </p:sp>
      <p:sp>
        <p:nvSpPr>
          <p:cNvPr id="284" name="Google Shape;284;p14"/>
          <p:cNvSpPr/>
          <p:nvPr/>
        </p:nvSpPr>
        <p:spPr>
          <a:xfrm>
            <a:off x="9780480" y="1087088"/>
            <a:ext cx="10010680" cy="9199912"/>
          </a:xfrm>
          <a:custGeom>
            <a:rect b="b" l="l" r="r" t="t"/>
            <a:pathLst>
              <a:path extrusionOk="0" h="12266549" w="13347573">
                <a:moveTo>
                  <a:pt x="0" y="0"/>
                </a:moveTo>
                <a:lnTo>
                  <a:pt x="13347573" y="0"/>
                </a:lnTo>
                <a:lnTo>
                  <a:pt x="13347573" y="12266549"/>
                </a:lnTo>
                <a:lnTo>
                  <a:pt x="0" y="12266549"/>
                </a:lnTo>
                <a:lnTo>
                  <a:pt x="0" y="0"/>
                </a:lnTo>
                <a:close/>
              </a:path>
            </a:pathLst>
          </a:custGeom>
          <a:blipFill rotWithShape="1">
            <a:blip r:embed="rId7">
              <a:alphaModFix/>
            </a:blip>
            <a:stretch>
              <a:fillRect b="0" l="0" r="0" t="0"/>
            </a:stretch>
          </a:blipFill>
          <a:ln>
            <a:noFill/>
          </a:ln>
        </p:spPr>
      </p:sp>
      <p:sp>
        <p:nvSpPr>
          <p:cNvPr id="285" name="Google Shape;285;p14"/>
          <p:cNvSpPr/>
          <p:nvPr/>
        </p:nvSpPr>
        <p:spPr>
          <a:xfrm>
            <a:off x="4725448" y="5199859"/>
            <a:ext cx="1550098" cy="1550098"/>
          </a:xfrm>
          <a:custGeom>
            <a:rect b="b" l="l" r="r" t="t"/>
            <a:pathLst>
              <a:path extrusionOk="0" h="2066798" w="2066798">
                <a:moveTo>
                  <a:pt x="0" y="0"/>
                </a:moveTo>
                <a:lnTo>
                  <a:pt x="2066798" y="0"/>
                </a:lnTo>
                <a:lnTo>
                  <a:pt x="2066798" y="2066798"/>
                </a:lnTo>
                <a:lnTo>
                  <a:pt x="0" y="2066798"/>
                </a:lnTo>
                <a:lnTo>
                  <a:pt x="0" y="0"/>
                </a:lnTo>
                <a:close/>
              </a:path>
            </a:pathLst>
          </a:custGeom>
          <a:blipFill rotWithShape="1">
            <a:blip r:embed="rId8">
              <a:alphaModFix/>
            </a:blip>
            <a:stretch>
              <a:fillRect b="0" l="0" r="0" t="0"/>
            </a:stretch>
          </a:blipFill>
          <a:ln>
            <a:noFill/>
          </a:ln>
        </p:spPr>
      </p:sp>
      <p:sp>
        <p:nvSpPr>
          <p:cNvPr id="286" name="Google Shape;286;p14"/>
          <p:cNvSpPr/>
          <p:nvPr/>
        </p:nvSpPr>
        <p:spPr>
          <a:xfrm>
            <a:off x="0" y="0"/>
            <a:ext cx="18288000" cy="10345866"/>
          </a:xfrm>
          <a:custGeom>
            <a:rect b="b" l="l" r="r" t="t"/>
            <a:pathLst>
              <a:path extrusionOk="0" h="13794487" w="24384000">
                <a:moveTo>
                  <a:pt x="0" y="0"/>
                </a:moveTo>
                <a:lnTo>
                  <a:pt x="24384000" y="0"/>
                </a:lnTo>
                <a:lnTo>
                  <a:pt x="24384000" y="13794487"/>
                </a:lnTo>
                <a:lnTo>
                  <a:pt x="0" y="13794487"/>
                </a:lnTo>
                <a:lnTo>
                  <a:pt x="0" y="0"/>
                </a:lnTo>
                <a:close/>
              </a:path>
            </a:pathLst>
          </a:custGeom>
          <a:blipFill rotWithShape="1">
            <a:blip r:embed="rId9">
              <a:alphaModFix amt="10999"/>
            </a:blip>
            <a:stretch>
              <a:fillRect b="0" l="0" r="-108"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